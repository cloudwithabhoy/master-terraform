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4" r:id="rId6"/>
    <p:sldId id="261" r:id="rId7"/>
    <p:sldId id="265" r:id="rId8"/>
    <p:sldId id="262" r:id="rId9"/>
    <p:sldId id="266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54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3295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6576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EEEFF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3.1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8686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5800" b="1" dirty="0">
                <a:solidFill>
                  <a:srgbClr val="1F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Variables, Locals</a:t>
            </a:r>
            <a:endParaRPr lang="en-US" sz="58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5800" b="1" dirty="0">
                <a:solidFill>
                  <a:srgbClr val="1F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&amp; Outputs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hardcoding values in your .tf files. Learn Terraform's three flavors of variable — input, local, and output — plus data sources, in enough depth to use all four with confidence.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5166360"/>
            <a:ext cx="137160" cy="137160"/>
          </a:xfrm>
          <a:prstGeom prst="rect">
            <a:avLst/>
          </a:prstGeom>
          <a:solidFill>
            <a:srgbClr val="2E5A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60704" y="50749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variable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60704" y="54132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20440" y="5166360"/>
            <a:ext cx="137160" cy="137160"/>
          </a:xfrm>
          <a:prstGeom prst="rect">
            <a:avLst/>
          </a:prstGeom>
          <a:solidFill>
            <a:srgbClr val="3C6E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758184" y="50749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6E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58184" y="54132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inside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5166360"/>
            <a:ext cx="137160" cy="137160"/>
          </a:xfrm>
          <a:prstGeom prst="rect">
            <a:avLst/>
          </a:prstGeom>
          <a:solidFill>
            <a:srgbClr val="9C66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55664" y="50749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C6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55664" y="54132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out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15400" y="5166360"/>
            <a:ext cx="137160" cy="137160"/>
          </a:xfrm>
          <a:prstGeom prst="rect">
            <a:avLst/>
          </a:prstGeom>
          <a:solidFill>
            <a:srgbClr val="6E4B8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153144" y="50749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4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source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53144" y="54132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6419088"/>
            <a:ext cx="10543032" cy="0"/>
          </a:xfrm>
          <a:prstGeom prst="line">
            <a:avLst/>
          </a:prstGeom>
          <a:noFill/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-50292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EEEFF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822960" y="7955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5528" y="1115568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F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hardcoding doesn't scale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resource with its name, tags, and region typed straight into main.tf is fine for a one-off experiment. The moment you want to reuse or share it, the cracks show.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9E2B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600200" y="3063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dev and a prod copy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600200" y="344728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copy-paste the whole file and edit strings by hand — tedious, and every edit is </a:t>
            </a: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chance to introduce a typo.</a:t>
            </a:r>
            <a:endParaRPr lang="en-US" sz="1350" b="1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9E2B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60020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teammate running your code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600200" y="468172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They'd have to edit your .tf files to swap in their own Owner tag — the exact "not shareable" problem to avoid.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5623560"/>
            <a:ext cx="10543032" cy="0"/>
          </a:xfrm>
          <a:prstGeom prst="line">
            <a:avLst/>
          </a:prstGeom>
          <a:noFill/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22960" y="6419088"/>
            <a:ext cx="10543032" cy="0"/>
          </a:xfrm>
          <a:prstGeom prst="line">
            <a:avLst/>
          </a:prstGeom>
          <a:noFill/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-50292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EEEFF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822960" y="7955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5528" y="1115568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F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Four tools, four directions</a:t>
            </a:r>
            <a:endParaRPr lang="en-US" sz="3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286000"/>
          <a:ext cx="10863072" cy="3822192"/>
        </p:xfrm>
        <a:graphic>
          <a:graphicData uri="http://schemas.openxmlformats.org/drawingml/2006/table">
            <a:tbl>
              <a:tblPr/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3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0" spc="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0" spc="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0" spc="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0" spc="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5A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 </a:t>
                      </a:r>
                      <a:r>
                        <a:rPr lang="en-US" sz="13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variable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F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goes in 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F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Something supplied from outside your config — CLI, file, env, or a default.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F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5A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var.name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F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6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 </a:t>
                      </a:r>
                      <a:r>
                        <a:rPr lang="en-US" sz="13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computed inside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named expression derived from variables, resources, or other locals.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C6E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local.name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9C6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 </a:t>
                      </a:r>
                      <a:r>
                        <a:rPr lang="en-US" sz="13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← comes 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value your config returns after apply — an ID, ARN, or URL.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9C66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output "x"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E4B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 </a:t>
                      </a:r>
                      <a:r>
                        <a:rPr lang="en-US" sz="13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in · read-only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lookup of something that already exists. Creates nothing.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E4B8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 "x"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6419088"/>
            <a:ext cx="10543032" cy="0"/>
          </a:xfrm>
          <a:prstGeom prst="line">
            <a:avLst/>
          </a:prstGeom>
          <a:noFill/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-50292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EEEFF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822960" y="868680"/>
            <a:ext cx="137160" cy="137160"/>
          </a:xfrm>
          <a:prstGeom prst="rect">
            <a:avLst/>
          </a:prstGeom>
          <a:solidFill>
            <a:srgbClr val="2E5A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78992" y="7955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2E5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 1 · GOES 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95528" y="1115568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F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Input variables, in depth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5989320" cy="3383280"/>
          </a:xfrm>
          <a:prstGeom prst="roundRect">
            <a:avLst>
              <a:gd name="adj" fmla="val 1622"/>
            </a:avLst>
          </a:prstGeom>
          <a:solidFill>
            <a:srgbClr val="F6F7F9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51560" y="2185416"/>
            <a:ext cx="1395374" cy="310896"/>
          </a:xfrm>
          <a:prstGeom prst="roundRect">
            <a:avLst>
              <a:gd name="adj" fmla="val 14706"/>
            </a:avLst>
          </a:prstGeom>
          <a:solidFill>
            <a:srgbClr val="1F24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51560" y="2185416"/>
            <a:ext cx="139537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variables.tf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2642616"/>
            <a:ext cx="54406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2E5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</a:t>
            </a:r>
            <a:r>
              <a:rPr lang="en-US" sz="1250" dirty="0">
                <a:solidFill>
                  <a:srgbClr val="9C6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"environment"</a:t>
            </a: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
  description </a:t>
            </a:r>
            <a:r>
              <a:rPr lang="en-US" sz="1250" dirty="0">
                <a:solidFill>
                  <a:srgbClr val="9AA1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250" dirty="0">
                <a:solidFill>
                  <a:srgbClr val="9C6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"Which env (dev|stage|prod)."
</a:t>
            </a: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       </a:t>
            </a:r>
            <a:r>
              <a:rPr lang="en-US" sz="1250" dirty="0">
                <a:solidFill>
                  <a:srgbClr val="9AA1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250" dirty="0">
                <a:solidFill>
                  <a:srgbClr val="3C6E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
</a:t>
            </a: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    </a:t>
            </a:r>
            <a:r>
              <a:rPr lang="en-US" sz="1250" dirty="0">
                <a:solidFill>
                  <a:srgbClr val="9AA1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250" dirty="0">
                <a:solidFill>
                  <a:srgbClr val="9C6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"dev"
</a:t>
            </a:r>
            <a:r>
              <a:rPr lang="en-US" sz="1250" dirty="0">
                <a:solidFill>
                  <a:srgbClr val="2E5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validation </a:t>
            </a: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    condition     </a:t>
            </a:r>
            <a:r>
              <a:rPr lang="en-US" sz="1250" dirty="0">
                <a:solidFill>
                  <a:srgbClr val="9AA1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250" dirty="0">
                <a:solidFill>
                  <a:srgbClr val="3C6E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contains</a:t>
            </a: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([...], var.environment)
    error_message </a:t>
            </a:r>
            <a:r>
              <a:rPr lang="en-US" sz="1250" dirty="0">
                <a:solidFill>
                  <a:srgbClr val="9AA1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250" dirty="0">
                <a:solidFill>
                  <a:srgbClr val="9C6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"must be dev|stage|prod."
</a:t>
            </a: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
}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5852160"/>
            <a:ext cx="5989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anywhere as </a:t>
            </a:r>
            <a:r>
              <a:rPr lang="en-US" sz="1250" b="1" dirty="0">
                <a:solidFill>
                  <a:srgbClr val="2E5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var.environment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086600" y="2286000"/>
            <a:ext cx="4279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86600" y="2587752"/>
            <a:ext cx="4279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checks the value matches — string, number, bool, list, map, object, or any. Mistakes are caught before apply.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86600" y="3246120"/>
            <a:ext cx="4279392" cy="0"/>
          </a:xfrm>
          <a:prstGeom prst="line">
            <a:avLst/>
          </a:prstGeom>
          <a:noFill/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086600" y="3319272"/>
            <a:ext cx="4279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86600" y="3621024"/>
            <a:ext cx="4279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nothing else is supplied. Omit it to make the variable required.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86600" y="4279392"/>
            <a:ext cx="4279392" cy="0"/>
          </a:xfrm>
          <a:prstGeom prst="line">
            <a:avLst/>
          </a:prstGeom>
          <a:noFill/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086600" y="4352544"/>
            <a:ext cx="4279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86600" y="4654296"/>
            <a:ext cx="4279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condition that must hold, with a message when it fails. Multiple blocks allowed — all must pass.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86600" y="5312664"/>
            <a:ext cx="4279392" cy="0"/>
          </a:xfrm>
          <a:prstGeom prst="line">
            <a:avLst/>
          </a:prstGeom>
          <a:noFill/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086600" y="5385816"/>
            <a:ext cx="4279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sensitive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86600" y="5687568"/>
            <a:ext cx="4279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the value in plan, apply, and output. It does not encrypt the value inside the state file.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6419088"/>
            <a:ext cx="10543032" cy="0"/>
          </a:xfrm>
          <a:prstGeom prst="line">
            <a:avLst/>
          </a:prstGeom>
          <a:noFill/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79AADD-1FA9-91DE-56C5-F22274863E30}"/>
              </a:ext>
            </a:extLst>
          </p:cNvPr>
          <p:cNvSpPr txBox="1"/>
          <p:nvPr/>
        </p:nvSpPr>
        <p:spPr>
          <a:xfrm>
            <a:off x="736600" y="228600"/>
            <a:ext cx="7289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variable "environment" {</a:t>
            </a:r>
          </a:p>
          <a:p>
            <a:r>
              <a:rPr lang="en-IN" sz="1400" dirty="0"/>
              <a:t>    description = "Which env (</a:t>
            </a:r>
            <a:r>
              <a:rPr lang="en-IN" sz="1400" dirty="0" err="1"/>
              <a:t>dev|stage|prod</a:t>
            </a:r>
            <a:r>
              <a:rPr lang="en-IN" sz="1400" dirty="0"/>
              <a:t>)."</a:t>
            </a:r>
          </a:p>
          <a:p>
            <a:r>
              <a:rPr lang="en-IN" sz="1400" dirty="0"/>
              <a:t>    type        = string</a:t>
            </a:r>
          </a:p>
          <a:p>
            <a:r>
              <a:rPr lang="en-IN" sz="1400" dirty="0"/>
              <a:t>    default     = "dev"</a:t>
            </a:r>
          </a:p>
          <a:p>
            <a:r>
              <a:rPr lang="en-IN" sz="1400" dirty="0"/>
              <a:t>  </a:t>
            </a:r>
          </a:p>
          <a:p>
            <a:r>
              <a:rPr lang="en-IN" sz="1400" b="1" dirty="0">
                <a:solidFill>
                  <a:schemeClr val="accent1">
                    <a:lumMod val="75000"/>
                  </a:schemeClr>
                </a:solidFill>
              </a:rPr>
              <a:t>    </a:t>
            </a:r>
            <a:r>
              <a:rPr lang="en-IN" sz="1400" b="1" dirty="0">
                <a:solidFill>
                  <a:schemeClr val="accent2">
                    <a:lumMod val="75000"/>
                  </a:schemeClr>
                </a:solidFill>
              </a:rPr>
              <a:t>validation {</a:t>
            </a:r>
          </a:p>
          <a:p>
            <a:r>
              <a:rPr lang="en-IN" sz="1400" b="1" dirty="0">
                <a:solidFill>
                  <a:schemeClr val="accent2">
                    <a:lumMod val="75000"/>
                  </a:schemeClr>
                </a:solidFill>
              </a:rPr>
              <a:t>      </a:t>
            </a:r>
            <a:r>
              <a:rPr lang="fr-FR" sz="1400" b="1" dirty="0">
                <a:solidFill>
                  <a:schemeClr val="accent2">
                    <a:lumMod val="75000"/>
                  </a:schemeClr>
                </a:solidFill>
              </a:rPr>
              <a:t>condition = </a:t>
            </a:r>
            <a:r>
              <a:rPr lang="fr-FR" sz="1400" b="1" dirty="0" err="1">
                <a:solidFill>
                  <a:schemeClr val="accent2">
                    <a:lumMod val="75000"/>
                  </a:schemeClr>
                </a:solidFill>
              </a:rPr>
              <a:t>contains</a:t>
            </a:r>
            <a:r>
              <a:rPr lang="fr-FR" sz="1400" b="1" dirty="0">
                <a:solidFill>
                  <a:schemeClr val="accent2">
                    <a:lumMod val="75000"/>
                  </a:schemeClr>
                </a:solidFill>
              </a:rPr>
              <a:t>(["dev", "stage", "prod"], </a:t>
            </a:r>
            <a:r>
              <a:rPr lang="fr-FR" sz="1400" b="1" dirty="0" err="1">
                <a:solidFill>
                  <a:schemeClr val="accent2">
                    <a:lumMod val="75000"/>
                  </a:schemeClr>
                </a:solidFill>
              </a:rPr>
              <a:t>var.environment</a:t>
            </a:r>
            <a:r>
              <a:rPr lang="fr-FR" sz="1400" b="1" dirty="0">
                <a:solidFill>
                  <a:schemeClr val="accent2">
                    <a:lumMod val="75000"/>
                  </a:schemeClr>
                </a:solidFill>
              </a:rPr>
              <a:t>)</a:t>
            </a:r>
          </a:p>
          <a:p>
            <a:r>
              <a:rPr lang="en-IN" sz="1400" b="1" dirty="0">
                <a:solidFill>
                  <a:schemeClr val="accent2">
                    <a:lumMod val="75000"/>
                  </a:schemeClr>
                </a:solidFill>
              </a:rPr>
              <a:t>       </a:t>
            </a:r>
            <a:r>
              <a:rPr lang="en-IN" sz="1400" b="1" dirty="0" err="1">
                <a:solidFill>
                  <a:schemeClr val="accent2">
                    <a:lumMod val="75000"/>
                  </a:schemeClr>
                </a:solidFill>
              </a:rPr>
              <a:t>error_message</a:t>
            </a:r>
            <a:r>
              <a:rPr lang="en-IN" sz="1400" b="1" dirty="0">
                <a:solidFill>
                  <a:schemeClr val="accent2">
                    <a:lumMod val="75000"/>
                  </a:schemeClr>
                </a:solidFill>
              </a:rPr>
              <a:t> = "must be </a:t>
            </a:r>
            <a:r>
              <a:rPr lang="en-IN" sz="1400" b="1" dirty="0" err="1">
                <a:solidFill>
                  <a:schemeClr val="accent2">
                    <a:lumMod val="75000"/>
                  </a:schemeClr>
                </a:solidFill>
              </a:rPr>
              <a:t>dev|stage|prod</a:t>
            </a:r>
            <a:r>
              <a:rPr lang="en-IN" sz="1400" b="1" dirty="0">
                <a:solidFill>
                  <a:schemeClr val="accent2">
                    <a:lumMod val="75000"/>
                  </a:schemeClr>
                </a:solidFill>
              </a:rPr>
              <a:t>."</a:t>
            </a:r>
          </a:p>
          <a:p>
            <a:r>
              <a:rPr lang="en-IN" sz="1400" b="1" dirty="0">
                <a:solidFill>
                  <a:schemeClr val="accent2">
                    <a:lumMod val="75000"/>
                  </a:schemeClr>
                </a:solidFill>
              </a:rPr>
              <a:t>    }</a:t>
            </a:r>
          </a:p>
          <a:p>
            <a:r>
              <a:rPr lang="en-IN" sz="1400" b="1" dirty="0">
                <a:solidFill>
                  <a:schemeClr val="accent2">
                    <a:lumMod val="75000"/>
                  </a:schemeClr>
                </a:solidFill>
              </a:rPr>
              <a:t>  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E1B510-2BAD-C951-7440-1549172E2200}"/>
              </a:ext>
            </a:extLst>
          </p:cNvPr>
          <p:cNvSpPr txBox="1"/>
          <p:nvPr/>
        </p:nvSpPr>
        <p:spPr>
          <a:xfrm>
            <a:off x="101600" y="2500670"/>
            <a:ext cx="109601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 *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condition =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</a:rPr>
              <a:t>contains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(["dev", "stage", "prod"],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</a:rPr>
              <a:t>var.environment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  <a:p>
            <a:r>
              <a:rPr lang="en-US" dirty="0"/>
              <a:t> This reads as: "is whatever </a:t>
            </a:r>
            <a:r>
              <a:rPr lang="en-US" dirty="0" err="1"/>
              <a:t>var.environment</a:t>
            </a:r>
            <a:r>
              <a:rPr lang="en-US" dirty="0"/>
              <a:t> currently holds one of dev, stage,   or prod?“</a:t>
            </a:r>
            <a:br>
              <a:rPr lang="en-US" dirty="0"/>
            </a:br>
            <a:br>
              <a:rPr lang="en-US" dirty="0"/>
            </a:br>
            <a:r>
              <a:rPr lang="en-US" dirty="0"/>
              <a:t>* * You run...: </a:t>
            </a:r>
            <a:r>
              <a:rPr lang="en-US" b="1" dirty="0"/>
              <a:t>terraform plan </a:t>
            </a:r>
            <a:r>
              <a:rPr lang="en-US" dirty="0"/>
              <a:t>(no override)</a:t>
            </a:r>
          </a:p>
          <a:p>
            <a:r>
              <a:rPr lang="en-US" dirty="0"/>
              <a:t>  </a:t>
            </a:r>
            <a:r>
              <a:rPr lang="en-US" dirty="0" err="1"/>
              <a:t>var.environment</a:t>
            </a:r>
            <a:r>
              <a:rPr lang="en-US" dirty="0"/>
              <a:t> resolves to: "</a:t>
            </a:r>
            <a:r>
              <a:rPr lang="en-US" b="1" dirty="0"/>
              <a:t>dev</a:t>
            </a:r>
            <a:r>
              <a:rPr lang="en-US" dirty="0"/>
              <a:t>" (the default)</a:t>
            </a:r>
          </a:p>
          <a:p>
            <a:r>
              <a:rPr lang="en-US" dirty="0"/>
              <a:t>  contains(...) returns: </a:t>
            </a:r>
            <a:r>
              <a:rPr lang="en-US" b="1" dirty="0"/>
              <a:t>true</a:t>
            </a:r>
          </a:p>
          <a:p>
            <a:r>
              <a:rPr lang="en-US" dirty="0"/>
              <a:t>  Result: Passes silently</a:t>
            </a:r>
            <a:r>
              <a:rPr lang="en-US" b="1" dirty="0"/>
              <a:t>, plan proceeds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** </a:t>
            </a:r>
            <a:r>
              <a:rPr lang="en-US" dirty="0"/>
              <a:t>You run...: </a:t>
            </a:r>
            <a:r>
              <a:rPr lang="en-US" b="1" dirty="0"/>
              <a:t>terraform plan -var="environment=typo"</a:t>
            </a:r>
            <a:r>
              <a:rPr lang="en-US" dirty="0"/>
              <a:t>           </a:t>
            </a:r>
          </a:p>
          <a:p>
            <a:r>
              <a:rPr lang="en-US" dirty="0"/>
              <a:t>  </a:t>
            </a:r>
            <a:r>
              <a:rPr lang="en-US" dirty="0" err="1"/>
              <a:t>var.environment</a:t>
            </a:r>
            <a:r>
              <a:rPr lang="en-US" dirty="0"/>
              <a:t> resolves to: </a:t>
            </a:r>
            <a:r>
              <a:rPr lang="en-US" b="1" dirty="0"/>
              <a:t>"typo"</a:t>
            </a:r>
          </a:p>
          <a:p>
            <a:r>
              <a:rPr lang="en-US" dirty="0"/>
              <a:t>  contains(...) returns: </a:t>
            </a:r>
            <a:r>
              <a:rPr lang="en-US" b="1" dirty="0"/>
              <a:t>false   </a:t>
            </a:r>
            <a:r>
              <a:rPr lang="en-US" dirty="0"/>
              <a:t>              </a:t>
            </a:r>
          </a:p>
          <a:p>
            <a:r>
              <a:rPr lang="en-US" dirty="0"/>
              <a:t>  Result: Terraform stops immediately and prints your </a:t>
            </a:r>
            <a:r>
              <a:rPr lang="en-US" dirty="0" err="1"/>
              <a:t>error_message</a:t>
            </a:r>
            <a:r>
              <a:rPr lang="en-US" dirty="0"/>
              <a:t>  : </a:t>
            </a:r>
            <a:r>
              <a:rPr lang="en-US" b="1" dirty="0"/>
              <a:t>must be </a:t>
            </a:r>
            <a:r>
              <a:rPr lang="en-US" b="1" dirty="0" err="1"/>
              <a:t>dev|stage|prod</a:t>
            </a:r>
            <a:r>
              <a:rPr lang="en-US" b="1" dirty="0"/>
              <a:t>.</a:t>
            </a:r>
          </a:p>
          <a:p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B8BD11-34BA-F46B-627E-18D235506674}"/>
              </a:ext>
            </a:extLst>
          </p:cNvPr>
          <p:cNvSpPr txBox="1"/>
          <p:nvPr/>
        </p:nvSpPr>
        <p:spPr>
          <a:xfrm>
            <a:off x="8089900" y="6517154"/>
            <a:ext cx="433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* See </a:t>
            </a:r>
            <a:r>
              <a:rPr lang="en-IN" b="1" dirty="0">
                <a:solidFill>
                  <a:srgbClr val="FF0000"/>
                </a:solidFill>
              </a:rPr>
              <a:t>variable_types.tf </a:t>
            </a:r>
            <a:r>
              <a:rPr lang="en-IN" dirty="0"/>
              <a:t>for more examples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5701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-50292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EEEFF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05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822960" y="868680"/>
            <a:ext cx="137160" cy="137160"/>
          </a:xfrm>
          <a:prstGeom prst="rect">
            <a:avLst/>
          </a:prstGeom>
          <a:solidFill>
            <a:srgbClr val="3C6E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78992" y="7955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3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 2 · COMPUTED INSIDE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95528" y="1115568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F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locals — compute once, reuse everywhere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6126480" cy="3108960"/>
          </a:xfrm>
          <a:prstGeom prst="roundRect">
            <a:avLst>
              <a:gd name="adj" fmla="val 1765"/>
            </a:avLst>
          </a:prstGeom>
          <a:solidFill>
            <a:srgbClr val="F6F7F9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51560" y="2231136"/>
            <a:ext cx="1126541" cy="310896"/>
          </a:xfrm>
          <a:prstGeom prst="roundRect">
            <a:avLst>
              <a:gd name="adj" fmla="val 14706"/>
            </a:avLst>
          </a:prstGeom>
          <a:solidFill>
            <a:srgbClr val="1F24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51560" y="2231136"/>
            <a:ext cx="112654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locals.tf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2688336"/>
            <a:ext cx="55778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2E5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 </a:t>
            </a: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  name_prefix </a:t>
            </a:r>
            <a:r>
              <a:rPr lang="en-US" sz="1250" dirty="0">
                <a:solidFill>
                  <a:srgbClr val="9AA1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250" dirty="0">
                <a:solidFill>
                  <a:srgbClr val="9C6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"${var.project_prefix}-${var.environment}"
</a:t>
            </a: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common_tags </a:t>
            </a:r>
            <a:r>
              <a:rPr lang="en-US" sz="1250" dirty="0">
                <a:solidFill>
                  <a:srgbClr val="9AA1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    Project     </a:t>
            </a:r>
            <a:r>
              <a:rPr lang="en-US" sz="1250" dirty="0">
                <a:solidFill>
                  <a:srgbClr val="9AA1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250" dirty="0">
                <a:solidFill>
                  <a:srgbClr val="3C6E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var.project_prefix
</a:t>
            </a: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 </a:t>
            </a:r>
            <a:r>
              <a:rPr lang="en-US" sz="1250" dirty="0">
                <a:solidFill>
                  <a:srgbClr val="9AA1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250" dirty="0">
                <a:solidFill>
                  <a:srgbClr val="3C6E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var.environment
</a:t>
            </a: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Owner       </a:t>
            </a:r>
            <a:r>
              <a:rPr lang="en-US" sz="1250" dirty="0">
                <a:solidFill>
                  <a:srgbClr val="9AA1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250" dirty="0">
                <a:solidFill>
                  <a:srgbClr val="3C6E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var.owner_tag
</a:t>
            </a: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
}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562356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as </a:t>
            </a:r>
            <a:r>
              <a:rPr lang="en-US" sz="1250" b="1" dirty="0">
                <a:solidFill>
                  <a:srgbClr val="3C6E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local.common_tags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23760" y="2331720"/>
            <a:ext cx="4142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named expression, not an input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2679192"/>
            <a:ext cx="4142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from variables, resources, or other locals — it never arrives from outside the config.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223760" y="3538728"/>
            <a:ext cx="4142232" cy="0"/>
          </a:xfrm>
          <a:prstGeom prst="line">
            <a:avLst/>
          </a:prstGeom>
          <a:noFill/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223760" y="3630168"/>
            <a:ext cx="4142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Don't repeat yourself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23760" y="3977640"/>
            <a:ext cx="4142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calculation or tag map once instead of pasting it across ten resources.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223760" y="4837176"/>
            <a:ext cx="4142232" cy="0"/>
          </a:xfrm>
          <a:prstGeom prst="line">
            <a:avLst/>
          </a:prstGeom>
          <a:noFill/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223760" y="4928616"/>
            <a:ext cx="4142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Change once, propagate everywhere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23760" y="5276088"/>
            <a:ext cx="4142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shape of common_tags here and every reference updates automatically.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6419088"/>
            <a:ext cx="10543032" cy="0"/>
          </a:xfrm>
          <a:prstGeom prst="line">
            <a:avLst/>
          </a:prstGeom>
          <a:noFill/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A6F2DF-17B2-EFAB-7236-FE0A6E7FB905}"/>
              </a:ext>
            </a:extLst>
          </p:cNvPr>
          <p:cNvSpPr txBox="1"/>
          <p:nvPr/>
        </p:nvSpPr>
        <p:spPr>
          <a:xfrm>
            <a:off x="7620000" y="6517154"/>
            <a:ext cx="48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* See </a:t>
            </a:r>
            <a:r>
              <a:rPr lang="en-IN" b="1" dirty="0">
                <a:solidFill>
                  <a:srgbClr val="FF0000"/>
                </a:solidFill>
              </a:rPr>
              <a:t>locals_and_outputs.tf </a:t>
            </a:r>
            <a:r>
              <a:rPr lang="en-IN" dirty="0"/>
              <a:t>for more examples 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1EB8B2-4584-1B64-E512-3F110EF9C5F2}"/>
              </a:ext>
            </a:extLst>
          </p:cNvPr>
          <p:cNvSpPr txBox="1"/>
          <p:nvPr/>
        </p:nvSpPr>
        <p:spPr>
          <a:xfrm>
            <a:off x="203200" y="114300"/>
            <a:ext cx="11607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Local vs input variables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4F519C-CB61-4DA1-6059-8F63D2E9334B}"/>
              </a:ext>
            </a:extLst>
          </p:cNvPr>
          <p:cNvSpPr txBox="1"/>
          <p:nvPr/>
        </p:nvSpPr>
        <p:spPr>
          <a:xfrm>
            <a:off x="203200" y="514410"/>
            <a:ext cx="9652000" cy="28931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variable "environment" {</a:t>
            </a:r>
          </a:p>
          <a:p>
            <a:r>
              <a:rPr lang="en-IN" sz="1400" dirty="0"/>
              <a:t>    type    = string</a:t>
            </a:r>
          </a:p>
          <a:p>
            <a:r>
              <a:rPr lang="en-IN" sz="1400" dirty="0"/>
              <a:t>    default = "dev"          # &lt;- YOU can override this</a:t>
            </a:r>
          </a:p>
          <a:p>
            <a:r>
              <a:rPr lang="en-IN" sz="1400" dirty="0"/>
              <a:t>  from outside</a:t>
            </a:r>
          </a:p>
          <a:p>
            <a:r>
              <a:rPr lang="en-IN" sz="1400" dirty="0"/>
              <a:t>  }</a:t>
            </a:r>
          </a:p>
          <a:p>
            <a:endParaRPr lang="en-IN" sz="1400" dirty="0"/>
          </a:p>
          <a:p>
            <a:r>
              <a:rPr lang="en-IN" sz="1400" dirty="0"/>
              <a:t>  locals {</a:t>
            </a:r>
          </a:p>
          <a:p>
            <a:r>
              <a:rPr lang="en-IN" sz="1400" dirty="0"/>
              <a:t>    </a:t>
            </a:r>
            <a:r>
              <a:rPr lang="en-IN" sz="1400" dirty="0" err="1"/>
              <a:t>bucket_name</a:t>
            </a:r>
            <a:r>
              <a:rPr lang="en-IN" sz="1400" dirty="0"/>
              <a:t> = "</a:t>
            </a:r>
            <a:r>
              <a:rPr lang="en-IN" sz="1400" dirty="0" err="1"/>
              <a:t>myapp</a:t>
            </a:r>
            <a:r>
              <a:rPr lang="en-IN" sz="1400" dirty="0"/>
              <a:t>-${</a:t>
            </a:r>
            <a:r>
              <a:rPr lang="en-IN" sz="1400" dirty="0" err="1"/>
              <a:t>var.environment</a:t>
            </a:r>
            <a:r>
              <a:rPr lang="en-IN" sz="1400" dirty="0"/>
              <a:t>}-data"   # ALWAYS this formula, you never override it directly      </a:t>
            </a:r>
          </a:p>
          <a:p>
            <a:r>
              <a:rPr lang="en-IN" sz="1400" dirty="0"/>
              <a:t>  }</a:t>
            </a:r>
          </a:p>
          <a:p>
            <a:endParaRPr lang="en-IN" sz="1400" dirty="0"/>
          </a:p>
          <a:p>
            <a:r>
              <a:rPr lang="en-IN" sz="1400" dirty="0"/>
              <a:t>  resource "aws_s3_bucket" "example" {</a:t>
            </a:r>
          </a:p>
          <a:p>
            <a:r>
              <a:rPr lang="en-IN" sz="1400" dirty="0"/>
              <a:t>    bucket = </a:t>
            </a:r>
            <a:r>
              <a:rPr lang="en-IN" sz="1400" dirty="0" err="1"/>
              <a:t>local.bucket_name</a:t>
            </a:r>
            <a:endParaRPr lang="en-IN" sz="1400" dirty="0"/>
          </a:p>
          <a:p>
            <a:r>
              <a:rPr lang="en-IN" sz="1400" dirty="0"/>
              <a:t>  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193D0E-CDF9-E954-B943-BC01645B31E8}"/>
              </a:ext>
            </a:extLst>
          </p:cNvPr>
          <p:cNvSpPr txBox="1"/>
          <p:nvPr/>
        </p:nvSpPr>
        <p:spPr>
          <a:xfrm>
            <a:off x="203200" y="6110069"/>
            <a:ext cx="1120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 variable </a:t>
            </a:r>
            <a:r>
              <a:rPr lang="en-US" dirty="0"/>
              <a:t>is something you control from outside; </a:t>
            </a:r>
          </a:p>
          <a:p>
            <a:r>
              <a:rPr lang="en-US" b="1" dirty="0"/>
              <a:t>A local </a:t>
            </a:r>
            <a:r>
              <a:rPr lang="en-US" dirty="0"/>
              <a:t>is something the code controls, derived from whatever variables/resources feed  into it.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356DC8-8A93-31B4-D9A7-5944FB94D1C1}"/>
              </a:ext>
            </a:extLst>
          </p:cNvPr>
          <p:cNvSpPr txBox="1"/>
          <p:nvPr/>
        </p:nvSpPr>
        <p:spPr>
          <a:xfrm>
            <a:off x="203200" y="3429000"/>
            <a:ext cx="6286500" cy="23083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b="1" dirty="0"/>
              <a:t>Variable : </a:t>
            </a:r>
          </a:p>
          <a:p>
            <a:r>
              <a:rPr lang="en-IN" sz="1600" dirty="0"/>
              <a:t>Run it as-is:</a:t>
            </a:r>
          </a:p>
          <a:p>
            <a:r>
              <a:rPr lang="en-IN" sz="1600" dirty="0"/>
              <a:t>  terraform plan</a:t>
            </a:r>
          </a:p>
          <a:p>
            <a:r>
              <a:rPr lang="en-IN" sz="1600" dirty="0"/>
              <a:t>  </a:t>
            </a:r>
            <a:r>
              <a:rPr lang="en-IN" sz="1600" dirty="0" err="1"/>
              <a:t>var.environment</a:t>
            </a:r>
            <a:r>
              <a:rPr lang="en-IN" sz="1600" dirty="0"/>
              <a:t> = "dev" (the default) → </a:t>
            </a:r>
            <a:r>
              <a:rPr lang="en-IN" sz="1600" dirty="0" err="1"/>
              <a:t>local.bucket_name</a:t>
            </a:r>
            <a:endParaRPr lang="en-IN" sz="1600" dirty="0"/>
          </a:p>
          <a:p>
            <a:r>
              <a:rPr lang="en-IN" sz="1600" dirty="0"/>
              <a:t>  computes to "</a:t>
            </a:r>
            <a:r>
              <a:rPr lang="en-IN" sz="1600" dirty="0" err="1"/>
              <a:t>myapp</a:t>
            </a:r>
            <a:r>
              <a:rPr lang="en-IN" sz="1600" dirty="0"/>
              <a:t>-dev-data".</a:t>
            </a:r>
          </a:p>
          <a:p>
            <a:endParaRPr lang="en-IN" sz="1600" dirty="0"/>
          </a:p>
          <a:p>
            <a:r>
              <a:rPr lang="en-IN" sz="1600" dirty="0"/>
              <a:t>  Now override the variable:</a:t>
            </a:r>
          </a:p>
          <a:p>
            <a:r>
              <a:rPr lang="en-IN" sz="1600" dirty="0"/>
              <a:t>  terraform plan -var="environment=prod"</a:t>
            </a:r>
          </a:p>
          <a:p>
            <a:r>
              <a:rPr lang="en-IN" sz="1600" dirty="0"/>
              <a:t>  </a:t>
            </a:r>
            <a:r>
              <a:rPr lang="en-IN" sz="1600" dirty="0" err="1"/>
              <a:t>var.environment</a:t>
            </a:r>
            <a:r>
              <a:rPr lang="en-IN" sz="1600" dirty="0"/>
              <a:t> = "prod" → </a:t>
            </a:r>
            <a:r>
              <a:rPr lang="en-IN" sz="1600" dirty="0" err="1"/>
              <a:t>local.bucket_name</a:t>
            </a:r>
            <a:endParaRPr lang="en-IN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297BE5-7FFC-82AB-833B-6CED7189EFCB}"/>
              </a:ext>
            </a:extLst>
          </p:cNvPr>
          <p:cNvSpPr txBox="1"/>
          <p:nvPr/>
        </p:nvSpPr>
        <p:spPr>
          <a:xfrm>
            <a:off x="7137400" y="3797300"/>
            <a:ext cx="4483100" cy="13234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/>
              <a:t>Local : </a:t>
            </a:r>
          </a:p>
          <a:p>
            <a:r>
              <a:rPr lang="en-US" sz="1600" dirty="0"/>
              <a:t>Now try to do the same thing to the local instead:</a:t>
            </a:r>
          </a:p>
          <a:p>
            <a:r>
              <a:rPr lang="en-US" sz="1600" dirty="0"/>
              <a:t>  terraform plan -var="</a:t>
            </a:r>
            <a:r>
              <a:rPr lang="en-US" sz="1600" dirty="0" err="1"/>
              <a:t>bucket_name</a:t>
            </a:r>
            <a:r>
              <a:rPr lang="en-US" sz="1600" dirty="0"/>
              <a:t>=whatever"</a:t>
            </a:r>
          </a:p>
          <a:p>
            <a:r>
              <a:rPr lang="en-US" sz="1600" dirty="0"/>
              <a:t>  This does nothing to </a:t>
            </a:r>
            <a:r>
              <a:rPr lang="en-US" sz="1600" dirty="0" err="1"/>
              <a:t>local.bucket_name</a:t>
            </a:r>
            <a:r>
              <a:rPr lang="en-US" sz="1600" dirty="0"/>
              <a:t> — in fact</a:t>
            </a:r>
          </a:p>
          <a:p>
            <a:r>
              <a:rPr lang="en-US" sz="1600" dirty="0"/>
              <a:t>  Terraform will error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717659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-50292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EEEFF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06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822960" y="868680"/>
            <a:ext cx="137160" cy="137160"/>
          </a:xfrm>
          <a:prstGeom prst="rect">
            <a:avLst/>
          </a:prstGeom>
          <a:solidFill>
            <a:srgbClr val="9C66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78992" y="7955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9C6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 3 · COMES OUT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95528" y="1115568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F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output — how a config returns values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6126480" cy="3200400"/>
          </a:xfrm>
          <a:prstGeom prst="roundRect">
            <a:avLst>
              <a:gd name="adj" fmla="val 1714"/>
            </a:avLst>
          </a:prstGeom>
          <a:solidFill>
            <a:srgbClr val="F6F7F9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51560" y="2231136"/>
            <a:ext cx="1216152" cy="310896"/>
          </a:xfrm>
          <a:prstGeom prst="roundRect">
            <a:avLst>
              <a:gd name="adj" fmla="val 14706"/>
            </a:avLst>
          </a:prstGeom>
          <a:solidFill>
            <a:srgbClr val="1F24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51560" y="2231136"/>
            <a:ext cx="1216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outputs.tf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2688336"/>
            <a:ext cx="5577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2E5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</a:t>
            </a:r>
            <a:r>
              <a:rPr lang="en-US" sz="1250" dirty="0">
                <a:solidFill>
                  <a:srgbClr val="9C6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"bucket_name"</a:t>
            </a: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
  description </a:t>
            </a:r>
            <a:r>
              <a:rPr lang="en-US" sz="1250" dirty="0">
                <a:solidFill>
                  <a:srgbClr val="9AA1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250" dirty="0">
                <a:solidFill>
                  <a:srgbClr val="9C6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generated bucket name."
</a:t>
            </a: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       </a:t>
            </a:r>
            <a:r>
              <a:rPr lang="en-US" sz="1250" dirty="0">
                <a:solidFill>
                  <a:srgbClr val="9AA1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250" dirty="0">
                <a:solidFill>
                  <a:srgbClr val="3C6E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aws_s3_bucket.example.bucket
</a:t>
            </a: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
</a:t>
            </a:r>
            <a:r>
              <a:rPr lang="en-US" sz="1250" dirty="0">
                <a:solidFill>
                  <a:srgbClr val="2E5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</a:t>
            </a:r>
            <a:r>
              <a:rPr lang="en-US" sz="1250" dirty="0">
                <a:solidFill>
                  <a:srgbClr val="9C6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"alert_webhook_url"</a:t>
            </a: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
  value     </a:t>
            </a:r>
            <a:r>
              <a:rPr lang="en-US" sz="1250" dirty="0">
                <a:solidFill>
                  <a:srgbClr val="9AA1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250" dirty="0">
                <a:solidFill>
                  <a:srgbClr val="3C6E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var.alert_webhook_url
</a:t>
            </a: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sensitive </a:t>
            </a:r>
            <a:r>
              <a:rPr lang="en-US" sz="1250" dirty="0">
                <a:solidFill>
                  <a:srgbClr val="9AA1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250" dirty="0">
                <a:solidFill>
                  <a:srgbClr val="9E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
</a:t>
            </a: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223760" y="2331720"/>
            <a:ext cx="4142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Returned to…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23760" y="2679192"/>
            <a:ext cx="4142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at the terminal, a downstream script, or another config via remote state (Day 9).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223760" y="3538728"/>
            <a:ext cx="4142232" cy="0"/>
          </a:xfrm>
          <a:prstGeom prst="line">
            <a:avLst/>
          </a:prstGeom>
          <a:noFill/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223760" y="3630168"/>
            <a:ext cx="4142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sensitive = true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23760" y="3977640"/>
            <a:ext cx="4142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just as it does on a variable — hidden by default, revealed only if asked for by name.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223760" y="4837176"/>
            <a:ext cx="4142232" cy="0"/>
          </a:xfrm>
          <a:prstGeom prst="line">
            <a:avLst/>
          </a:prstGeom>
          <a:noFill/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223760" y="4928616"/>
            <a:ext cx="4142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Ask by name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23760" y="5276088"/>
            <a:ext cx="4142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output bucket_name prints a single value, ready to pipe into other tools.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6419088"/>
            <a:ext cx="10543032" cy="0"/>
          </a:xfrm>
          <a:prstGeom prst="line">
            <a:avLst/>
          </a:prstGeom>
          <a:noFill/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FE4B2F-B27B-A9FC-679A-84AEA7A1EEF2}"/>
              </a:ext>
            </a:extLst>
          </p:cNvPr>
          <p:cNvSpPr txBox="1"/>
          <p:nvPr/>
        </p:nvSpPr>
        <p:spPr>
          <a:xfrm>
            <a:off x="177800" y="0"/>
            <a:ext cx="4191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300" b="1" dirty="0">
                <a:solidFill>
                  <a:srgbClr val="1F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Output example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5A2170-E29D-CA68-63B5-B9385E17768C}"/>
              </a:ext>
            </a:extLst>
          </p:cNvPr>
          <p:cNvSpPr txBox="1"/>
          <p:nvPr/>
        </p:nvSpPr>
        <p:spPr>
          <a:xfrm>
            <a:off x="317500" y="788685"/>
            <a:ext cx="8102600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effectLst/>
                <a:latin typeface="JetBrains Mono"/>
              </a:rPr>
              <a:t>output "</a:t>
            </a:r>
            <a:r>
              <a:rPr lang="en-IN" dirty="0" err="1">
                <a:effectLst/>
                <a:latin typeface="JetBrains Mono"/>
              </a:rPr>
              <a:t>alert_webhook_url</a:t>
            </a:r>
            <a:r>
              <a:rPr lang="en-IN" dirty="0">
                <a:effectLst/>
                <a:latin typeface="JetBrains Mono"/>
              </a:rPr>
              <a:t>" {</a:t>
            </a:r>
            <a:br>
              <a:rPr lang="en-IN" dirty="0">
                <a:effectLst/>
                <a:latin typeface="JetBrains Mono"/>
              </a:rPr>
            </a:br>
            <a:r>
              <a:rPr lang="en-IN" dirty="0">
                <a:effectLst/>
                <a:latin typeface="JetBrains Mono"/>
              </a:rPr>
              <a:t>  description = "Hidden by default because it's marked sensitive above."</a:t>
            </a:r>
            <a:br>
              <a:rPr lang="en-IN" dirty="0">
                <a:effectLst/>
                <a:latin typeface="JetBrains Mono"/>
              </a:rPr>
            </a:br>
            <a:r>
              <a:rPr lang="en-IN" dirty="0">
                <a:effectLst/>
                <a:latin typeface="JetBrains Mono"/>
              </a:rPr>
              <a:t>  value       = </a:t>
            </a:r>
            <a:r>
              <a:rPr lang="en-IN" dirty="0" err="1">
                <a:effectLst/>
                <a:latin typeface="JetBrains Mono"/>
              </a:rPr>
              <a:t>var.alert_webhook_url</a:t>
            </a:r>
            <a:br>
              <a:rPr lang="en-IN" dirty="0">
                <a:effectLst/>
                <a:latin typeface="JetBrains Mono"/>
              </a:rPr>
            </a:br>
            <a:r>
              <a:rPr lang="en-IN" dirty="0">
                <a:effectLst/>
                <a:latin typeface="JetBrains Mono"/>
              </a:rPr>
              <a:t>  sensitive   = true</a:t>
            </a:r>
            <a:br>
              <a:rPr lang="en-IN" dirty="0">
                <a:effectLst/>
                <a:latin typeface="JetBrains Mono"/>
              </a:rPr>
            </a:br>
            <a:r>
              <a:rPr lang="en-IN" dirty="0">
                <a:effectLst/>
                <a:latin typeface="JetBrains Mono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16104C-D6D3-64A9-6A58-F7A3C0A96C1F}"/>
              </a:ext>
            </a:extLst>
          </p:cNvPr>
          <p:cNvSpPr txBox="1"/>
          <p:nvPr/>
        </p:nvSpPr>
        <p:spPr>
          <a:xfrm>
            <a:off x="317500" y="2362200"/>
            <a:ext cx="1079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- sensitive = true </a:t>
            </a:r>
            <a:r>
              <a:rPr lang="en-US" dirty="0"/>
              <a:t>— the one line that changes behavior: it tells Terraform to mask this output's value everywhere</a:t>
            </a:r>
          </a:p>
          <a:p>
            <a:r>
              <a:rPr lang="en-US" dirty="0"/>
              <a:t>  it would normally be printed in plain text. hides a value from casual/accidental exposure in terminal output.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E72450-FD9F-B76A-BAAD-47BC2E11A17E}"/>
              </a:ext>
            </a:extLst>
          </p:cNvPr>
          <p:cNvSpPr txBox="1"/>
          <p:nvPr/>
        </p:nvSpPr>
        <p:spPr>
          <a:xfrm>
            <a:off x="419100" y="3104718"/>
            <a:ext cx="9144000" cy="25853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Without it</a:t>
            </a:r>
            <a:r>
              <a:rPr lang="en-US" dirty="0"/>
              <a:t>, terraform apply would print:</a:t>
            </a:r>
          </a:p>
          <a:p>
            <a:r>
              <a:rPr lang="en-US" dirty="0"/>
              <a:t>  Outputs: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b="1" dirty="0" err="1"/>
              <a:t>alert_webhook_url</a:t>
            </a:r>
            <a:r>
              <a:rPr lang="en-US" b="1" dirty="0"/>
              <a:t> = "https://example.com/replace-me"</a:t>
            </a:r>
          </a:p>
          <a:p>
            <a:endParaRPr lang="en-US" b="1" dirty="0"/>
          </a:p>
          <a:p>
            <a:r>
              <a:rPr lang="en-US" dirty="0"/>
              <a:t>  </a:t>
            </a:r>
            <a:r>
              <a:rPr lang="en-US" b="1" dirty="0"/>
              <a:t>With it, </a:t>
            </a:r>
            <a:r>
              <a:rPr lang="en-US" dirty="0"/>
              <a:t>the same apply prints:</a:t>
            </a:r>
          </a:p>
          <a:p>
            <a:r>
              <a:rPr lang="en-US" dirty="0"/>
              <a:t>  Outputs:</a:t>
            </a:r>
          </a:p>
          <a:p>
            <a:endParaRPr lang="en-US" dirty="0"/>
          </a:p>
          <a:p>
            <a:r>
              <a:rPr lang="en-US" b="1" dirty="0"/>
              <a:t>  </a:t>
            </a:r>
            <a:r>
              <a:rPr lang="en-US" b="1" dirty="0" err="1"/>
              <a:t>alert_webhook_url</a:t>
            </a:r>
            <a:r>
              <a:rPr lang="en-US" b="1" dirty="0"/>
              <a:t> = &lt;sensitive&gt;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87343F-9D0E-4421-A51E-05FEF97D41F8}"/>
              </a:ext>
            </a:extLst>
          </p:cNvPr>
          <p:cNvSpPr txBox="1"/>
          <p:nvPr/>
        </p:nvSpPr>
        <p:spPr>
          <a:xfrm>
            <a:off x="419100" y="5761269"/>
            <a:ext cx="95885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 What it does NOT protect:</a:t>
            </a:r>
          </a:p>
          <a:p>
            <a:r>
              <a:rPr lang="en-IN" sz="1600" dirty="0"/>
              <a:t>  - The value is still stored in plain text inside  </a:t>
            </a:r>
            <a:r>
              <a:rPr lang="en-IN" sz="1600" dirty="0" err="1"/>
              <a:t>terraform.tfstate</a:t>
            </a:r>
            <a:r>
              <a:rPr lang="en-IN" sz="1600" dirty="0"/>
              <a:t> — anyone who can read the state file   can see it.</a:t>
            </a:r>
          </a:p>
        </p:txBody>
      </p:sp>
    </p:spTree>
    <p:extLst>
      <p:ext uri="{BB962C8B-B14F-4D97-AF65-F5344CB8AC3E}">
        <p14:creationId xmlns:p14="http://schemas.microsoft.com/office/powerpoint/2010/main" val="1109968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-50292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EEEFF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07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822960" y="868680"/>
            <a:ext cx="137160" cy="137160"/>
          </a:xfrm>
          <a:prstGeom prst="rect">
            <a:avLst/>
          </a:prstGeom>
          <a:solidFill>
            <a:srgbClr val="6E4B8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78992" y="7955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6E4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FOURTH TOOL · READ-ONLY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95528" y="1115568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F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sources — read, never create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source looks up something that already exists and hands you its attributes. It creates nothing, and appears in plans with the &lt;= symbol.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108960"/>
            <a:ext cx="10543032" cy="960120"/>
          </a:xfrm>
          <a:prstGeom prst="roundRect">
            <a:avLst>
              <a:gd name="adj" fmla="val 5714"/>
            </a:avLst>
          </a:prstGeom>
          <a:solidFill>
            <a:srgbClr val="F6F7F9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051560" y="2962656"/>
            <a:ext cx="947318" cy="310896"/>
          </a:xfrm>
          <a:prstGeom prst="roundRect">
            <a:avLst>
              <a:gd name="adj" fmla="val 14706"/>
            </a:avLst>
          </a:prstGeom>
          <a:solidFill>
            <a:srgbClr val="1F24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51560" y="2962656"/>
            <a:ext cx="94731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data.tf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3419856"/>
            <a:ext cx="99943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2E5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</a:t>
            </a:r>
            <a:r>
              <a:rPr lang="en-US" sz="1500" dirty="0">
                <a:solidFill>
                  <a:srgbClr val="9C6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"aws_caller_identity"</a:t>
            </a:r>
            <a:r>
              <a:rPr lang="en-US" sz="15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9C6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"current"</a:t>
            </a:r>
            <a:r>
              <a:rPr lang="en-US" sz="15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{}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4160520"/>
            <a:ext cx="10543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AWS account ID, user/role ARN, and user ID of whoever runs Terraform right now.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937760"/>
            <a:ext cx="128016" cy="128016"/>
          </a:xfrm>
          <a:prstGeom prst="rect">
            <a:avLst/>
          </a:prstGeom>
          <a:solidFill>
            <a:srgbClr val="6E4B8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42416" y="4864608"/>
            <a:ext cx="30571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Account-specific ARNs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22960" y="5440680"/>
            <a:ext cx="31028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ARNs without hardcoding a 12-digit account number that would break for anyone else.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73296" y="4892040"/>
            <a:ext cx="0" cy="1234440"/>
          </a:xfrm>
          <a:prstGeom prst="line">
            <a:avLst/>
          </a:prstGeom>
          <a:noFill/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474464" y="4937760"/>
            <a:ext cx="128016" cy="128016"/>
          </a:xfrm>
          <a:prstGeom prst="rect">
            <a:avLst/>
          </a:prstGeom>
          <a:solidFill>
            <a:srgbClr val="6E4B8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93920" y="4864608"/>
            <a:ext cx="30571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Portable across accounts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474464" y="5440680"/>
            <a:ext cx="31028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breaks the moment a teammate — or a different account — runs your code.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24800" y="4892040"/>
            <a:ext cx="0" cy="1234440"/>
          </a:xfrm>
          <a:prstGeom prst="line">
            <a:avLst/>
          </a:prstGeom>
          <a:noFill/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125968" y="4937760"/>
            <a:ext cx="128016" cy="128016"/>
          </a:xfrm>
          <a:prstGeom prst="rect">
            <a:avLst/>
          </a:prstGeom>
          <a:solidFill>
            <a:srgbClr val="6E4B8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345424" y="4864608"/>
            <a:ext cx="30571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Creates nothing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125968" y="5440680"/>
            <a:ext cx="31028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pure read, unlike a resource, which provisions real infrastructure.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" y="6419088"/>
            <a:ext cx="10543032" cy="0"/>
          </a:xfrm>
          <a:prstGeom prst="line">
            <a:avLst/>
          </a:prstGeom>
          <a:noFill/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1468</Words>
  <Application>Microsoft Office PowerPoint</Application>
  <PresentationFormat>Widescreen</PresentationFormat>
  <Paragraphs>167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Century Schoolbook</vt:lpstr>
      <vt:lpstr>Courier New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Terraform 101</dc:creator>
  <cp:lastModifiedBy>Abhoy Kumar Mondal</cp:lastModifiedBy>
  <cp:revision>3</cp:revision>
  <dcterms:created xsi:type="dcterms:W3CDTF">2026-07-13T15:08:57Z</dcterms:created>
  <dcterms:modified xsi:type="dcterms:W3CDTF">2026-07-14T11:06:07Z</dcterms:modified>
</cp:coreProperties>
</file>