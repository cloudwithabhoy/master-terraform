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71" r:id="rId3"/>
    <p:sldId id="257" r:id="rId4"/>
    <p:sldId id="258" r:id="rId5"/>
    <p:sldId id="259" r:id="rId6"/>
    <p:sldId id="260" r:id="rId7"/>
    <p:sldId id="262" r:id="rId8"/>
    <p:sldId id="268" r:id="rId9"/>
    <p:sldId id="263" r:id="rId10"/>
    <p:sldId id="265" r:id="rId11"/>
    <p:sldId id="264" r:id="rId12"/>
    <p:sldId id="272" r:id="rId13"/>
    <p:sldId id="273" r:id="rId14"/>
    <p:sldId id="274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954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028655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640080" y="1965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kern="0" spc="300" dirty="0">
                <a:solidFill>
                  <a:srgbClr val="5C4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META-ARGUMENTS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2331720"/>
            <a:ext cx="9418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4800" b="1" dirty="0">
                <a:solidFill>
                  <a:srgbClr val="C26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</a:t>
            </a:r>
            <a:r>
              <a:rPr lang="en-US" sz="48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r>
              <a:rPr lang="en-US" sz="48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</a:t>
            </a:r>
            <a:r>
              <a:rPr lang="en-US" sz="48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4800" b="1" dirty="0" err="1">
                <a:solidFill>
                  <a:srgbClr val="5C4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for_each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64008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A9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resource block instead of many — looping with for_each and count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4892040"/>
            <a:ext cx="2331720" cy="457200"/>
          </a:xfrm>
          <a:prstGeom prst="roundRect">
            <a:avLst>
              <a:gd name="adj" fmla="val 50000"/>
            </a:avLst>
          </a:prstGeom>
          <a:solidFill>
            <a:srgbClr val="6C4CE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640080" y="489204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D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· for_each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0" y="4892040"/>
            <a:ext cx="2103120" cy="457200"/>
          </a:xfrm>
          <a:prstGeom prst="roundRect">
            <a:avLst>
              <a:gd name="adj" fmla="val 50000"/>
            </a:avLst>
          </a:prstGeom>
          <a:solidFill>
            <a:srgbClr val="23244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3108960" y="48920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DD0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2 · count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248EE30C-DFDF-7238-3AAF-4AD418E378F6}"/>
              </a:ext>
            </a:extLst>
          </p:cNvPr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5C4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BASICS</a:t>
            </a:r>
            <a:endParaRPr lang="en-US" sz="1300" dirty="0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04C7F19F-3324-AA59-933E-1F7FC3435ED6}"/>
              </a:ext>
            </a:extLst>
          </p:cNvPr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 “meta-argument”?</a:t>
            </a:r>
            <a:endParaRPr lang="en-US" sz="3000" dirty="0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56331C56-AD9F-A12F-8CB0-598905C2CCE0}"/>
              </a:ext>
            </a:extLst>
          </p:cNvPr>
          <p:cNvSpPr/>
          <p:nvPr/>
        </p:nvSpPr>
        <p:spPr>
          <a:xfrm>
            <a:off x="548640" y="141732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Terraform, a resource block normally describes </a:t>
            </a:r>
            <a:r>
              <a:rPr lang="en-US" sz="1600" b="1" i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</a:t>
            </a:r>
            <a:r>
              <a:rPr lang="en-US" sz="16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thing — one server, one bucket, one user.</a:t>
            </a:r>
            <a:endParaRPr lang="en-US" sz="1600" dirty="0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29320625-B38F-BF8B-3619-D76F0CE5A2DA}"/>
              </a:ext>
            </a:extLst>
          </p:cNvPr>
          <p:cNvSpPr/>
          <p:nvPr/>
        </p:nvSpPr>
        <p:spPr>
          <a:xfrm>
            <a:off x="548640" y="192024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meta-argument is a special setting you add to that block to say “actually, make several of these” — without copy-pasting the block over and over.</a:t>
            </a:r>
            <a:endParaRPr lang="en-US" sz="1600" dirty="0"/>
          </a:p>
        </p:txBody>
      </p:sp>
      <p:sp>
        <p:nvSpPr>
          <p:cNvPr id="11" name="Shape 4">
            <a:extLst>
              <a:ext uri="{FF2B5EF4-FFF2-40B4-BE49-F238E27FC236}">
                <a16:creationId xmlns:a16="http://schemas.microsoft.com/office/drawing/2014/main" id="{76EDD62E-FC3C-8257-DF0D-9E20BC7CCB16}"/>
              </a:ext>
            </a:extLst>
          </p:cNvPr>
          <p:cNvSpPr/>
          <p:nvPr/>
        </p:nvSpPr>
        <p:spPr>
          <a:xfrm>
            <a:off x="548640" y="2834640"/>
            <a:ext cx="3291840" cy="2651760"/>
          </a:xfrm>
          <a:prstGeom prst="roundRect">
            <a:avLst>
              <a:gd name="adj" fmla="val 3448"/>
            </a:avLst>
          </a:prstGeom>
          <a:solidFill>
            <a:srgbClr val="F4F4F8"/>
          </a:solidFill>
          <a:ln w="12700">
            <a:solidFill>
              <a:srgbClr val="E2E2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6E7B0E42-17C2-F529-A580-C4B2DD0C3690}"/>
              </a:ext>
            </a:extLst>
          </p:cNvPr>
          <p:cNvSpPr/>
          <p:nvPr/>
        </p:nvSpPr>
        <p:spPr>
          <a:xfrm>
            <a:off x="777240" y="30175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a meta-argument</a:t>
            </a:r>
            <a:endParaRPr lang="en-US" sz="1300" dirty="0"/>
          </a:p>
        </p:txBody>
      </p:sp>
      <p:sp>
        <p:nvSpPr>
          <p:cNvPr id="15" name="Shape 6">
            <a:extLst>
              <a:ext uri="{FF2B5EF4-FFF2-40B4-BE49-F238E27FC236}">
                <a16:creationId xmlns:a16="http://schemas.microsoft.com/office/drawing/2014/main" id="{B6C79BB7-1000-E4DE-F922-53A6929B5D93}"/>
              </a:ext>
            </a:extLst>
          </p:cNvPr>
          <p:cNvSpPr/>
          <p:nvPr/>
        </p:nvSpPr>
        <p:spPr>
          <a:xfrm>
            <a:off x="868680" y="352044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6D6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7">
            <a:extLst>
              <a:ext uri="{FF2B5EF4-FFF2-40B4-BE49-F238E27FC236}">
                <a16:creationId xmlns:a16="http://schemas.microsoft.com/office/drawing/2014/main" id="{133EB4F8-0792-4C22-B180-32DB472F5744}"/>
              </a:ext>
            </a:extLst>
          </p:cNvPr>
          <p:cNvSpPr/>
          <p:nvPr/>
        </p:nvSpPr>
        <p:spPr>
          <a:xfrm>
            <a:off x="1051560" y="3749040"/>
            <a:ext cx="457200" cy="457200"/>
          </a:xfrm>
          <a:prstGeom prst="ellipse">
            <a:avLst/>
          </a:prstGeom>
          <a:solidFill>
            <a:srgbClr val="5C4E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8">
            <a:extLst>
              <a:ext uri="{FF2B5EF4-FFF2-40B4-BE49-F238E27FC236}">
                <a16:creationId xmlns:a16="http://schemas.microsoft.com/office/drawing/2014/main" id="{566A098C-FD4A-3CC1-E86B-B190E7863E94}"/>
              </a:ext>
            </a:extLst>
          </p:cNvPr>
          <p:cNvSpPr/>
          <p:nvPr/>
        </p:nvSpPr>
        <p:spPr>
          <a:xfrm>
            <a:off x="1051560" y="3749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DBEB66AC-C154-B4EC-75C5-6BA757AF7EF1}"/>
              </a:ext>
            </a:extLst>
          </p:cNvPr>
          <p:cNvSpPr/>
          <p:nvPr/>
        </p:nvSpPr>
        <p:spPr>
          <a:xfrm>
            <a:off x="1600200" y="37490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exactly one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</a:t>
            </a:r>
            <a:endParaRPr lang="en-US" sz="1250" dirty="0"/>
          </a:p>
        </p:txBody>
      </p:sp>
      <p:sp>
        <p:nvSpPr>
          <p:cNvPr id="23" name="Text 10">
            <a:extLst>
              <a:ext uri="{FF2B5EF4-FFF2-40B4-BE49-F238E27FC236}">
                <a16:creationId xmlns:a16="http://schemas.microsoft.com/office/drawing/2014/main" id="{C59C5C6B-90A9-5104-3531-F4E2FB802CA9}"/>
              </a:ext>
            </a:extLst>
          </p:cNvPr>
          <p:cNvSpPr/>
          <p:nvPr/>
        </p:nvSpPr>
        <p:spPr>
          <a:xfrm>
            <a:off x="868680" y="461772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— until you need 3, 10, or 50 similar ones.</a:t>
            </a:r>
            <a:endParaRPr lang="en-US" sz="1150" dirty="0"/>
          </a:p>
        </p:txBody>
      </p:sp>
      <p:sp>
        <p:nvSpPr>
          <p:cNvPr id="25" name="Shape 11">
            <a:extLst>
              <a:ext uri="{FF2B5EF4-FFF2-40B4-BE49-F238E27FC236}">
                <a16:creationId xmlns:a16="http://schemas.microsoft.com/office/drawing/2014/main" id="{8440E52E-BFE5-89D1-6C70-DF339F705658}"/>
              </a:ext>
            </a:extLst>
          </p:cNvPr>
          <p:cNvSpPr/>
          <p:nvPr/>
        </p:nvSpPr>
        <p:spPr>
          <a:xfrm>
            <a:off x="4069080" y="3931920"/>
            <a:ext cx="822960" cy="457200"/>
          </a:xfrm>
          <a:prstGeom prst="rightArrow">
            <a:avLst/>
          </a:prstGeom>
          <a:solidFill>
            <a:srgbClr val="5C4E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Shape 12">
            <a:extLst>
              <a:ext uri="{FF2B5EF4-FFF2-40B4-BE49-F238E27FC236}">
                <a16:creationId xmlns:a16="http://schemas.microsoft.com/office/drawing/2014/main" id="{2EBBEED9-0C52-4C94-5EE3-066BB4E789F0}"/>
              </a:ext>
            </a:extLst>
          </p:cNvPr>
          <p:cNvSpPr/>
          <p:nvPr/>
        </p:nvSpPr>
        <p:spPr>
          <a:xfrm>
            <a:off x="5120640" y="2834640"/>
            <a:ext cx="6492240" cy="2651760"/>
          </a:xfrm>
          <a:prstGeom prst="roundRect">
            <a:avLst>
              <a:gd name="adj" fmla="val 3448"/>
            </a:avLst>
          </a:prstGeom>
          <a:solidFill>
            <a:srgbClr val="F4F4F8"/>
          </a:solidFill>
          <a:ln w="12700">
            <a:solidFill>
              <a:srgbClr val="E2E2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13">
            <a:extLst>
              <a:ext uri="{FF2B5EF4-FFF2-40B4-BE49-F238E27FC236}">
                <a16:creationId xmlns:a16="http://schemas.microsoft.com/office/drawing/2014/main" id="{7D3D494C-751F-1ADD-6BC2-B1133F72BDF7}"/>
              </a:ext>
            </a:extLst>
          </p:cNvPr>
          <p:cNvSpPr/>
          <p:nvPr/>
        </p:nvSpPr>
        <p:spPr>
          <a:xfrm>
            <a:off x="5349240" y="3017520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a meta-argument (count or for_each)</a:t>
            </a:r>
            <a:endParaRPr lang="en-US" sz="1300" dirty="0"/>
          </a:p>
        </p:txBody>
      </p:sp>
      <p:sp>
        <p:nvSpPr>
          <p:cNvPr id="31" name="Shape 14">
            <a:extLst>
              <a:ext uri="{FF2B5EF4-FFF2-40B4-BE49-F238E27FC236}">
                <a16:creationId xmlns:a16="http://schemas.microsoft.com/office/drawing/2014/main" id="{6CF8861E-20E9-EC88-EDC4-CDC5A2303703}"/>
              </a:ext>
            </a:extLst>
          </p:cNvPr>
          <p:cNvSpPr/>
          <p:nvPr/>
        </p:nvSpPr>
        <p:spPr>
          <a:xfrm>
            <a:off x="5349240" y="3566160"/>
            <a:ext cx="13716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6D6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15">
            <a:extLst>
              <a:ext uri="{FF2B5EF4-FFF2-40B4-BE49-F238E27FC236}">
                <a16:creationId xmlns:a16="http://schemas.microsoft.com/office/drawing/2014/main" id="{CB463A15-B8B5-F2DE-E6A5-18AEE573884F}"/>
              </a:ext>
            </a:extLst>
          </p:cNvPr>
          <p:cNvSpPr/>
          <p:nvPr/>
        </p:nvSpPr>
        <p:spPr>
          <a:xfrm>
            <a:off x="5806440" y="3730752"/>
            <a:ext cx="457200" cy="457200"/>
          </a:xfrm>
          <a:prstGeom prst="ellipse">
            <a:avLst/>
          </a:prstGeom>
          <a:solidFill>
            <a:srgbClr val="5C4E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5" name="Text 16">
            <a:extLst>
              <a:ext uri="{FF2B5EF4-FFF2-40B4-BE49-F238E27FC236}">
                <a16:creationId xmlns:a16="http://schemas.microsoft.com/office/drawing/2014/main" id="{2FF7FF70-2117-31E2-B2FD-F2DC90D1AEEB}"/>
              </a:ext>
            </a:extLst>
          </p:cNvPr>
          <p:cNvSpPr/>
          <p:nvPr/>
        </p:nvSpPr>
        <p:spPr>
          <a:xfrm>
            <a:off x="5806440" y="37307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37" name="Text 17">
            <a:extLst>
              <a:ext uri="{FF2B5EF4-FFF2-40B4-BE49-F238E27FC236}">
                <a16:creationId xmlns:a16="http://schemas.microsoft.com/office/drawing/2014/main" id="{936925C4-72D1-FA1A-379F-EB7B1A58DD8D}"/>
              </a:ext>
            </a:extLst>
          </p:cNvPr>
          <p:cNvSpPr/>
          <p:nvPr/>
        </p:nvSpPr>
        <p:spPr>
          <a:xfrm>
            <a:off x="5349240" y="422452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</a:t>
            </a:r>
            <a:endParaRPr lang="en-US" sz="1050" dirty="0"/>
          </a:p>
        </p:txBody>
      </p:sp>
      <p:sp>
        <p:nvSpPr>
          <p:cNvPr id="39" name="Shape 18">
            <a:extLst>
              <a:ext uri="{FF2B5EF4-FFF2-40B4-BE49-F238E27FC236}">
                <a16:creationId xmlns:a16="http://schemas.microsoft.com/office/drawing/2014/main" id="{EBF89B5D-103F-1656-EA9A-CBAB84E9828C}"/>
              </a:ext>
            </a:extLst>
          </p:cNvPr>
          <p:cNvSpPr/>
          <p:nvPr/>
        </p:nvSpPr>
        <p:spPr>
          <a:xfrm>
            <a:off x="6949440" y="3566160"/>
            <a:ext cx="13716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6D6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Shape 19">
            <a:extLst>
              <a:ext uri="{FF2B5EF4-FFF2-40B4-BE49-F238E27FC236}">
                <a16:creationId xmlns:a16="http://schemas.microsoft.com/office/drawing/2014/main" id="{424D9839-15F4-92E8-F37C-E67BE9E88962}"/>
              </a:ext>
            </a:extLst>
          </p:cNvPr>
          <p:cNvSpPr/>
          <p:nvPr/>
        </p:nvSpPr>
        <p:spPr>
          <a:xfrm>
            <a:off x="7406640" y="3730752"/>
            <a:ext cx="457200" cy="457200"/>
          </a:xfrm>
          <a:prstGeom prst="ellipse">
            <a:avLst/>
          </a:prstGeom>
          <a:solidFill>
            <a:srgbClr val="C2620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3" name="Text 20">
            <a:extLst>
              <a:ext uri="{FF2B5EF4-FFF2-40B4-BE49-F238E27FC236}">
                <a16:creationId xmlns:a16="http://schemas.microsoft.com/office/drawing/2014/main" id="{5A590C5B-E848-6824-57C2-F64C75FEFFD3}"/>
              </a:ext>
            </a:extLst>
          </p:cNvPr>
          <p:cNvSpPr/>
          <p:nvPr/>
        </p:nvSpPr>
        <p:spPr>
          <a:xfrm>
            <a:off x="7406640" y="37307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45" name="Text 21">
            <a:extLst>
              <a:ext uri="{FF2B5EF4-FFF2-40B4-BE49-F238E27FC236}">
                <a16:creationId xmlns:a16="http://schemas.microsoft.com/office/drawing/2014/main" id="{BDA2B085-E8EB-7810-C16A-9C6B7B4D3A66}"/>
              </a:ext>
            </a:extLst>
          </p:cNvPr>
          <p:cNvSpPr/>
          <p:nvPr/>
        </p:nvSpPr>
        <p:spPr>
          <a:xfrm>
            <a:off x="6949440" y="422452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</a:t>
            </a:r>
            <a:endParaRPr lang="en-US" sz="1050" dirty="0"/>
          </a:p>
        </p:txBody>
      </p:sp>
      <p:sp>
        <p:nvSpPr>
          <p:cNvPr id="47" name="Shape 22">
            <a:extLst>
              <a:ext uri="{FF2B5EF4-FFF2-40B4-BE49-F238E27FC236}">
                <a16:creationId xmlns:a16="http://schemas.microsoft.com/office/drawing/2014/main" id="{8D7076BE-AB64-14A7-D8F9-7205994D5C0F}"/>
              </a:ext>
            </a:extLst>
          </p:cNvPr>
          <p:cNvSpPr/>
          <p:nvPr/>
        </p:nvSpPr>
        <p:spPr>
          <a:xfrm>
            <a:off x="8549640" y="3566160"/>
            <a:ext cx="13716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6D6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9" name="Shape 23">
            <a:extLst>
              <a:ext uri="{FF2B5EF4-FFF2-40B4-BE49-F238E27FC236}">
                <a16:creationId xmlns:a16="http://schemas.microsoft.com/office/drawing/2014/main" id="{D9D39435-56B2-ABD8-8C2E-025FC5A7F109}"/>
              </a:ext>
            </a:extLst>
          </p:cNvPr>
          <p:cNvSpPr/>
          <p:nvPr/>
        </p:nvSpPr>
        <p:spPr>
          <a:xfrm>
            <a:off x="9006840" y="3730752"/>
            <a:ext cx="457200" cy="457200"/>
          </a:xfrm>
          <a:prstGeom prst="ellipse">
            <a:avLst/>
          </a:prstGeom>
          <a:solidFill>
            <a:srgbClr val="5C4E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1" name="Text 24">
            <a:extLst>
              <a:ext uri="{FF2B5EF4-FFF2-40B4-BE49-F238E27FC236}">
                <a16:creationId xmlns:a16="http://schemas.microsoft.com/office/drawing/2014/main" id="{E3BF9C53-AD59-FF81-4E4E-B95CC28E548D}"/>
              </a:ext>
            </a:extLst>
          </p:cNvPr>
          <p:cNvSpPr/>
          <p:nvPr/>
        </p:nvSpPr>
        <p:spPr>
          <a:xfrm>
            <a:off x="9006840" y="37307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53" name="Text 25">
            <a:extLst>
              <a:ext uri="{FF2B5EF4-FFF2-40B4-BE49-F238E27FC236}">
                <a16:creationId xmlns:a16="http://schemas.microsoft.com/office/drawing/2014/main" id="{29188F03-688D-D462-7A1F-0275272CE3BA}"/>
              </a:ext>
            </a:extLst>
          </p:cNvPr>
          <p:cNvSpPr/>
          <p:nvPr/>
        </p:nvSpPr>
        <p:spPr>
          <a:xfrm>
            <a:off x="8549640" y="422452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</a:t>
            </a:r>
            <a:endParaRPr lang="en-US" sz="1050" dirty="0"/>
          </a:p>
        </p:txBody>
      </p:sp>
      <p:sp>
        <p:nvSpPr>
          <p:cNvPr id="55" name="Shape 26">
            <a:extLst>
              <a:ext uri="{FF2B5EF4-FFF2-40B4-BE49-F238E27FC236}">
                <a16:creationId xmlns:a16="http://schemas.microsoft.com/office/drawing/2014/main" id="{6B7F777C-F404-5C6B-BBBD-D0BC37D42050}"/>
              </a:ext>
            </a:extLst>
          </p:cNvPr>
          <p:cNvSpPr/>
          <p:nvPr/>
        </p:nvSpPr>
        <p:spPr>
          <a:xfrm>
            <a:off x="10149840" y="3566160"/>
            <a:ext cx="13716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6D6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Shape 27">
            <a:extLst>
              <a:ext uri="{FF2B5EF4-FFF2-40B4-BE49-F238E27FC236}">
                <a16:creationId xmlns:a16="http://schemas.microsoft.com/office/drawing/2014/main" id="{F08B7F48-209C-04E6-CA50-1CE83D6CD013}"/>
              </a:ext>
            </a:extLst>
          </p:cNvPr>
          <p:cNvSpPr/>
          <p:nvPr/>
        </p:nvSpPr>
        <p:spPr>
          <a:xfrm>
            <a:off x="10607040" y="3730752"/>
            <a:ext cx="457200" cy="457200"/>
          </a:xfrm>
          <a:prstGeom prst="ellipse">
            <a:avLst/>
          </a:prstGeom>
          <a:solidFill>
            <a:srgbClr val="C2620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9" name="Text 28">
            <a:extLst>
              <a:ext uri="{FF2B5EF4-FFF2-40B4-BE49-F238E27FC236}">
                <a16:creationId xmlns:a16="http://schemas.microsoft.com/office/drawing/2014/main" id="{C51CB968-C50D-09D2-2A2E-DBDD88A69571}"/>
              </a:ext>
            </a:extLst>
          </p:cNvPr>
          <p:cNvSpPr/>
          <p:nvPr/>
        </p:nvSpPr>
        <p:spPr>
          <a:xfrm>
            <a:off x="10607040" y="37307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61" name="Text 29">
            <a:extLst>
              <a:ext uri="{FF2B5EF4-FFF2-40B4-BE49-F238E27FC236}">
                <a16:creationId xmlns:a16="http://schemas.microsoft.com/office/drawing/2014/main" id="{F432F925-DD36-73B8-0537-0F0506ED2781}"/>
              </a:ext>
            </a:extLst>
          </p:cNvPr>
          <p:cNvSpPr/>
          <p:nvPr/>
        </p:nvSpPr>
        <p:spPr>
          <a:xfrm>
            <a:off x="10149840" y="422452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</a:t>
            </a:r>
            <a:endParaRPr lang="en-US" sz="1050" dirty="0"/>
          </a:p>
        </p:txBody>
      </p:sp>
      <p:sp>
        <p:nvSpPr>
          <p:cNvPr id="63" name="Text 30">
            <a:extLst>
              <a:ext uri="{FF2B5EF4-FFF2-40B4-BE49-F238E27FC236}">
                <a16:creationId xmlns:a16="http://schemas.microsoft.com/office/drawing/2014/main" id="{0B6ABA0C-E7F4-9242-EFAE-9118FDF30663}"/>
              </a:ext>
            </a:extLst>
          </p:cNvPr>
          <p:cNvSpPr/>
          <p:nvPr/>
        </p:nvSpPr>
        <p:spPr>
          <a:xfrm>
            <a:off x="5349240" y="480060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block, multiple instances — Terraform loops it for you.</a:t>
            </a:r>
            <a:endParaRPr lang="en-US" sz="1150" dirty="0"/>
          </a:p>
        </p:txBody>
      </p:sp>
      <p:sp>
        <p:nvSpPr>
          <p:cNvPr id="65" name="Text 31">
            <a:extLst>
              <a:ext uri="{FF2B5EF4-FFF2-40B4-BE49-F238E27FC236}">
                <a16:creationId xmlns:a16="http://schemas.microsoft.com/office/drawing/2014/main" id="{3054EAB6-F183-ADD9-5677-1944A250242E}"/>
              </a:ext>
            </a:extLst>
          </p:cNvPr>
          <p:cNvSpPr/>
          <p:nvPr/>
        </p:nvSpPr>
        <p:spPr>
          <a:xfrm>
            <a:off x="548640" y="57607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ways to do this: </a:t>
            </a:r>
            <a:r>
              <a:rPr lang="en-US" sz="1500" b="1" dirty="0">
                <a:solidFill>
                  <a:srgbClr val="C26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</a:t>
            </a:r>
            <a:r>
              <a:rPr lang="en-US" sz="15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and  </a:t>
            </a:r>
            <a:r>
              <a:rPr lang="en-US" sz="1500" b="1" dirty="0">
                <a:solidFill>
                  <a:srgbClr val="5C4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for_each</a:t>
            </a:r>
            <a:r>
              <a:rPr lang="en-US" sz="15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This deck covers both.</a:t>
            </a:r>
            <a:endParaRPr lang="en-US" sz="1500" dirty="0"/>
          </a:p>
        </p:txBody>
      </p:sp>
      <p:sp>
        <p:nvSpPr>
          <p:cNvPr id="67" name="Text 32">
            <a:extLst>
              <a:ext uri="{FF2B5EF4-FFF2-40B4-BE49-F238E27FC236}">
                <a16:creationId xmlns:a16="http://schemas.microsoft.com/office/drawing/2014/main" id="{1F97F540-BD17-080C-2149-46FFA8581A0D}"/>
              </a:ext>
            </a:extLst>
          </p:cNvPr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2663757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51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749808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DED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Ways to Stop Copy-Pasting Blocks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120640" cy="4663440"/>
          </a:xfrm>
          <a:prstGeom prst="roundRect">
            <a:avLst>
              <a:gd name="adj" fmla="val 2353"/>
            </a:avLst>
          </a:prstGeom>
          <a:solidFill>
            <a:srgbClr val="1E1F3D"/>
          </a:solidFill>
          <a:ln w="9525">
            <a:solidFill>
              <a:srgbClr val="2E2F55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868680" y="2011680"/>
            <a:ext cx="566928" cy="566928"/>
          </a:xfrm>
          <a:prstGeom prst="ellipse">
            <a:avLst/>
          </a:prstGeom>
          <a:solidFill>
            <a:srgbClr val="6C4CE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868680" y="20116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12" b="1" dirty="0">
                <a:solidFill>
                  <a:srgbClr val="ED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12" dirty="0"/>
          </a:p>
        </p:txBody>
      </p:sp>
      <p:sp>
        <p:nvSpPr>
          <p:cNvPr id="7" name="Text 5"/>
          <p:cNvSpPr/>
          <p:nvPr/>
        </p:nvSpPr>
        <p:spPr>
          <a:xfrm>
            <a:off x="1600200" y="199339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D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for_each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600200" y="240487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9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over a map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2926080"/>
            <a:ext cx="44805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D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stay stable and human-readable ("logs", "backups")</a:t>
            </a:r>
            <a:endParaRPr lang="en-US" sz="135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D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each.key / each.value inside the block</a:t>
            </a:r>
            <a:endParaRPr lang="en-US" sz="135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D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when instances differ by more than just a number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26480" y="1691640"/>
            <a:ext cx="5120640" cy="4663440"/>
          </a:xfrm>
          <a:prstGeom prst="roundRect">
            <a:avLst>
              <a:gd name="adj" fmla="val 2353"/>
            </a:avLst>
          </a:prstGeom>
          <a:solidFill>
            <a:srgbClr val="1E1F3D"/>
          </a:solidFill>
          <a:ln w="9525">
            <a:solidFill>
              <a:srgbClr val="2E2F55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6446520" y="2011680"/>
            <a:ext cx="566928" cy="566928"/>
          </a:xfrm>
          <a:prstGeom prst="ellipse">
            <a:avLst/>
          </a:prstGeom>
          <a:solidFill>
            <a:srgbClr val="4DD0E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6446520" y="20116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12" b="1" dirty="0">
                <a:solidFill>
                  <a:srgbClr val="0F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12" dirty="0"/>
          </a:p>
        </p:txBody>
      </p:sp>
      <p:sp>
        <p:nvSpPr>
          <p:cNvPr id="13" name="Text 11"/>
          <p:cNvSpPr/>
          <p:nvPr/>
        </p:nvSpPr>
        <p:spPr>
          <a:xfrm>
            <a:off x="7178040" y="199339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D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178040" y="240487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9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N times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46520" y="2926080"/>
            <a:ext cx="44805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D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Instances addressed positionally: [0], [1], [2]</a:t>
            </a:r>
            <a:endParaRPr lang="en-US" sz="135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D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count.index is the only per-instance value</a:t>
            </a:r>
            <a:endParaRPr lang="en-US" sz="135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D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when "how many" is the only thing that varies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9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1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DD0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 ·  FOR_EACH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200" b="1" dirty="0" err="1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for_each</a:t>
            </a: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“make one for each named item”</a:t>
            </a:r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4820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564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— copy-pasted blocks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5186680"/>
            <a:ext cx="5486400" cy="530352"/>
          </a:xfrm>
          <a:prstGeom prst="roundRect">
            <a:avLst>
              <a:gd name="adj" fmla="val 20690"/>
            </a:avLst>
          </a:prstGeom>
          <a:solidFill>
            <a:srgbClr val="23244A"/>
          </a:solidFill>
          <a:ln w="9525">
            <a:solidFill>
              <a:srgbClr val="2E2F55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777240" y="5186680"/>
            <a:ext cx="5029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9A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aws_s3_bucket "logs"    { ... }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5845048"/>
            <a:ext cx="5486400" cy="530352"/>
          </a:xfrm>
          <a:prstGeom prst="roundRect">
            <a:avLst>
              <a:gd name="adj" fmla="val 20690"/>
            </a:avLst>
          </a:prstGeom>
          <a:solidFill>
            <a:srgbClr val="23244A"/>
          </a:solidFill>
          <a:ln w="9525">
            <a:solidFill>
              <a:srgbClr val="2E2F55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777240" y="5845048"/>
            <a:ext cx="5029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9A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aws_s3_bucket "backups" { ... }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5552440"/>
            <a:ext cx="594360" cy="457200"/>
          </a:xfrm>
          <a:prstGeom prst="rightArrow">
            <a:avLst/>
          </a:prstGeom>
          <a:solidFill>
            <a:srgbClr val="6C4CE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7086600" y="48209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6FC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— one for_each block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086600" y="5186680"/>
            <a:ext cx="4480560" cy="1508760"/>
          </a:xfrm>
          <a:prstGeom prst="roundRect">
            <a:avLst>
              <a:gd name="adj" fmla="val 7273"/>
            </a:avLst>
          </a:prstGeom>
          <a:solidFill>
            <a:srgbClr val="1E1F3D"/>
          </a:solidFill>
          <a:ln w="9525">
            <a:solidFill>
              <a:srgbClr val="2E2F55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7315200" y="5323840"/>
            <a:ext cx="402336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DD0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resource </a:t>
            </a:r>
            <a:r>
              <a:rPr lang="en-US" sz="1300" dirty="0">
                <a:solidFill>
                  <a:srgbClr val="ED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"aws_s3_bucket" "app" {
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for_each = var.bucket_purposes
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D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D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9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8" name="Text 2">
            <a:extLst>
              <a:ext uri="{FF2B5EF4-FFF2-40B4-BE49-F238E27FC236}">
                <a16:creationId xmlns:a16="http://schemas.microsoft.com/office/drawing/2014/main" id="{1360F47A-210A-382A-D897-7F5035615383}"/>
              </a:ext>
            </a:extLst>
          </p:cNvPr>
          <p:cNvSpPr/>
          <p:nvPr/>
        </p:nvSpPr>
        <p:spPr>
          <a:xfrm>
            <a:off x="548640" y="1417320"/>
            <a:ext cx="1145743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for_each</a:t>
            </a: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tells Terraform to create one resource per entry in a collection — and to remember each one </a:t>
            </a:r>
            <a:r>
              <a:rPr lang="en-US" sz="1600" b="1" i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name</a:t>
            </a: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position.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0" name="Shape 3">
            <a:extLst>
              <a:ext uri="{FF2B5EF4-FFF2-40B4-BE49-F238E27FC236}">
                <a16:creationId xmlns:a16="http://schemas.microsoft.com/office/drawing/2014/main" id="{B7296D7F-873B-C021-4393-E904B97CA431}"/>
              </a:ext>
            </a:extLst>
          </p:cNvPr>
          <p:cNvSpPr/>
          <p:nvPr/>
        </p:nvSpPr>
        <p:spPr>
          <a:xfrm>
            <a:off x="548640" y="2926080"/>
            <a:ext cx="6309360" cy="1234440"/>
          </a:xfrm>
          <a:prstGeom prst="roundRect">
            <a:avLst>
              <a:gd name="adj" fmla="val 7407"/>
            </a:avLst>
          </a:prstGeom>
          <a:solidFill>
            <a:srgbClr val="E8F6EF"/>
          </a:solidFill>
          <a:ln w="12700">
            <a:solidFill>
              <a:srgbClr val="BFE3D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4B99B0CB-33E1-6D3C-C2AE-2FE75BE4D238}"/>
              </a:ext>
            </a:extLst>
          </p:cNvPr>
          <p:cNvSpPr/>
          <p:nvPr/>
        </p:nvSpPr>
        <p:spPr>
          <a:xfrm>
            <a:off x="777240" y="3035808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Accepted types (only 2):</a:t>
            </a:r>
            <a:endParaRPr lang="en-US" sz="1400" dirty="0"/>
          </a:p>
        </p:txBody>
      </p:sp>
      <p:sp>
        <p:nvSpPr>
          <p:cNvPr id="24" name="Text 5">
            <a:extLst>
              <a:ext uri="{FF2B5EF4-FFF2-40B4-BE49-F238E27FC236}">
                <a16:creationId xmlns:a16="http://schemas.microsoft.com/office/drawing/2014/main" id="{32D619FB-E735-7167-AE85-9C918E5D7857}"/>
              </a:ext>
            </a:extLst>
          </p:cNvPr>
          <p:cNvSpPr/>
          <p:nvPr/>
        </p:nvSpPr>
        <p:spPr>
          <a:xfrm>
            <a:off x="868680" y="336499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8E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 map</a:t>
            </a:r>
            <a:r>
              <a:rPr lang="en-US" sz="12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keys become each.key, values become each.value</a:t>
            </a:r>
            <a:endParaRPr lang="en-US" sz="1250" dirty="0"/>
          </a:p>
        </p:txBody>
      </p:sp>
      <p:sp>
        <p:nvSpPr>
          <p:cNvPr id="26" name="Text 6">
            <a:extLst>
              <a:ext uri="{FF2B5EF4-FFF2-40B4-BE49-F238E27FC236}">
                <a16:creationId xmlns:a16="http://schemas.microsoft.com/office/drawing/2014/main" id="{B4E29380-7A4D-0931-444E-80BE37EE492F}"/>
              </a:ext>
            </a:extLst>
          </p:cNvPr>
          <p:cNvSpPr/>
          <p:nvPr/>
        </p:nvSpPr>
        <p:spPr>
          <a:xfrm>
            <a:off x="868680" y="3712464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8E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 set(string)</a:t>
            </a:r>
            <a:r>
              <a:rPr lang="en-US" sz="12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each string is both key and value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51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DD0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 ·  FOR_EACH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DED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for_each Over a Map — the One Pattern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6446520" cy="4617720"/>
          </a:xfrm>
          <a:prstGeom prst="roundRect">
            <a:avLst>
              <a:gd name="adj" fmla="val 2376"/>
            </a:avLst>
          </a:prstGeom>
          <a:solidFill>
            <a:srgbClr val="101122"/>
          </a:solidFill>
          <a:ln w="9525">
            <a:solidFill>
              <a:srgbClr val="2E2F55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6446520" cy="310896"/>
          </a:xfrm>
          <a:prstGeom prst="roundRect">
            <a:avLst>
              <a:gd name="adj" fmla="val 35294"/>
            </a:avLst>
          </a:prstGeom>
          <a:solidFill>
            <a:srgbClr val="1B1C3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548640" y="1892808"/>
            <a:ext cx="6446520" cy="109728"/>
          </a:xfrm>
          <a:prstGeom prst="rect">
            <a:avLst/>
          </a:prstGeom>
          <a:solidFill>
            <a:srgbClr val="1B1C3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685800" y="1801368"/>
            <a:ext cx="91440" cy="91440"/>
          </a:xfrm>
          <a:prstGeom prst="ellipse">
            <a:avLst/>
          </a:prstGeom>
          <a:solidFill>
            <a:srgbClr val="E564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886968" y="1801368"/>
            <a:ext cx="91440" cy="91440"/>
          </a:xfrm>
          <a:prstGeom prst="ellipse">
            <a:avLst/>
          </a:prstGeom>
          <a:solidFill>
            <a:srgbClr val="F2B85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1088136" y="1801368"/>
            <a:ext cx="91440" cy="91440"/>
          </a:xfrm>
          <a:prstGeom prst="ellipse">
            <a:avLst/>
          </a:prstGeom>
          <a:solidFill>
            <a:srgbClr val="6FCF9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1371600" y="1691640"/>
            <a:ext cx="5440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A9A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main.tf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04672" y="2093976"/>
            <a:ext cx="5989320" cy="4123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DD0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variable </a:t>
            </a:r>
            <a:r>
              <a:rPr lang="en-US" sz="1250" dirty="0">
                <a:solidFill>
                  <a:srgbClr val="D8D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"bucket_purposes" {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8D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type    = </a:t>
            </a:r>
            <a:r>
              <a:rPr lang="en-US" sz="1250" dirty="0">
                <a:solidFill>
                  <a:srgbClr val="F2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map(string)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8D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default = {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8D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logs    = </a:t>
            </a:r>
            <a:r>
              <a:rPr lang="en-US" sz="1250" dirty="0">
                <a:solidFill>
                  <a:srgbClr val="F2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"log-retention"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8D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backups = </a:t>
            </a:r>
            <a:r>
              <a:rPr lang="en-US" sz="1250" dirty="0">
                <a:solidFill>
                  <a:srgbClr val="F2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"disaster-recovery"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8D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8D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DD0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resource </a:t>
            </a:r>
            <a:r>
              <a:rPr lang="en-US" sz="1250" dirty="0">
                <a:solidFill>
                  <a:srgbClr val="D8D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"aws_s3_bucket" "app" {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9FE8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for_each = var.bucket_purposes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8D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bucket = </a:t>
            </a:r>
            <a:r>
              <a:rPr lang="en-US" sz="1250" dirty="0">
                <a:solidFill>
                  <a:srgbClr val="F2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"myapp-${each.key}-${random_id.suffix.hex}"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8D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tags   = { Purpose = each.value }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8D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269480" y="1691640"/>
            <a:ext cx="4370832" cy="914400"/>
          </a:xfrm>
          <a:prstGeom prst="roundRect">
            <a:avLst>
              <a:gd name="adj" fmla="val 12000"/>
            </a:avLst>
          </a:prstGeom>
          <a:solidFill>
            <a:srgbClr val="1E1F3D"/>
          </a:solidFill>
          <a:ln w="9525">
            <a:solidFill>
              <a:srgbClr val="2E2F55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7498080" y="1783080"/>
            <a:ext cx="39136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DD0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for_each = var...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498080" y="2121408"/>
            <a:ext cx="391363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D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once per map entry.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269480" y="2770632"/>
            <a:ext cx="4370832" cy="914400"/>
          </a:xfrm>
          <a:prstGeom prst="roundRect">
            <a:avLst>
              <a:gd name="adj" fmla="val 12000"/>
            </a:avLst>
          </a:prstGeom>
          <a:solidFill>
            <a:srgbClr val="1E1F3D"/>
          </a:solidFill>
          <a:ln w="9525">
            <a:solidFill>
              <a:srgbClr val="2E2F55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7498080" y="2862072"/>
            <a:ext cx="39136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DD0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each.key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498080" y="3200400"/>
            <a:ext cx="391363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D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entry's key — "logs", then "backups".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269480" y="3849624"/>
            <a:ext cx="4370832" cy="914400"/>
          </a:xfrm>
          <a:prstGeom prst="roundRect">
            <a:avLst>
              <a:gd name="adj" fmla="val 12000"/>
            </a:avLst>
          </a:prstGeom>
          <a:solidFill>
            <a:srgbClr val="1E1F3D"/>
          </a:solidFill>
          <a:ln w="9525">
            <a:solidFill>
              <a:srgbClr val="2E2F55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7498080" y="3941064"/>
            <a:ext cx="39136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DD0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each.value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498080" y="4279392"/>
            <a:ext cx="391363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D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entry's value — the matching string.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269480" y="4928616"/>
            <a:ext cx="4370832" cy="1417320"/>
          </a:xfrm>
          <a:prstGeom prst="roundRect">
            <a:avLst>
              <a:gd name="adj" fmla="val 7742"/>
            </a:avLst>
          </a:prstGeom>
          <a:solidFill>
            <a:srgbClr val="23244A"/>
          </a:solidFill>
          <a:ln w="9525">
            <a:solidFill>
              <a:srgbClr val="2E2F55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7498080" y="5038344"/>
            <a:ext cx="3913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2B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Individually addressable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98080" y="5340096"/>
            <a:ext cx="39136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D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aws_s3_bucket.app["logs"]</a:t>
            </a: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D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aws_s3_bucket.app["backups"]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498080" y="5916168"/>
            <a:ext cx="39136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9A9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unlike count's numeric [0]/[1] (next up)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9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1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DD0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1  ·  FOR_EACH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DED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Referencing Every Instance at Once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943600" cy="1920240"/>
          </a:xfrm>
          <a:prstGeom prst="roundRect">
            <a:avLst>
              <a:gd name="adj" fmla="val 5714"/>
            </a:avLst>
          </a:prstGeom>
          <a:solidFill>
            <a:srgbClr val="101122"/>
          </a:solidFill>
          <a:ln w="9525">
            <a:solidFill>
              <a:srgbClr val="2E2F55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943600" cy="310896"/>
          </a:xfrm>
          <a:prstGeom prst="roundRect">
            <a:avLst>
              <a:gd name="adj" fmla="val 35294"/>
            </a:avLst>
          </a:prstGeom>
          <a:solidFill>
            <a:srgbClr val="1B1C3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548640" y="1938528"/>
            <a:ext cx="5943600" cy="109728"/>
          </a:xfrm>
          <a:prstGeom prst="rect">
            <a:avLst/>
          </a:prstGeom>
          <a:solidFill>
            <a:srgbClr val="1B1C3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685800" y="1847088"/>
            <a:ext cx="91440" cy="91440"/>
          </a:xfrm>
          <a:prstGeom prst="ellipse">
            <a:avLst/>
          </a:prstGeom>
          <a:solidFill>
            <a:srgbClr val="E564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886968" y="1847088"/>
            <a:ext cx="91440" cy="91440"/>
          </a:xfrm>
          <a:prstGeom prst="ellipse">
            <a:avLst/>
          </a:prstGeom>
          <a:solidFill>
            <a:srgbClr val="F2B85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1088136" y="1847088"/>
            <a:ext cx="91440" cy="91440"/>
          </a:xfrm>
          <a:prstGeom prst="ellipse">
            <a:avLst/>
          </a:prstGeom>
          <a:solidFill>
            <a:srgbClr val="6FCF9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1371600" y="1737360"/>
            <a:ext cx="4937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A9A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outputs.tf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04672" y="2139696"/>
            <a:ext cx="5486400" cy="1426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DD0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 </a:t>
            </a:r>
            <a:r>
              <a:rPr lang="en-US" sz="1250" dirty="0">
                <a:solidFill>
                  <a:srgbClr val="D8D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"bucket_names" {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ED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value = { for purpose, b in aws_s3_bucket.app :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2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purpose =&gt; b.bucket }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8D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886200"/>
            <a:ext cx="5943600" cy="2423160"/>
          </a:xfrm>
          <a:prstGeom prst="roundRect">
            <a:avLst>
              <a:gd name="adj" fmla="val 4528"/>
            </a:avLst>
          </a:prstGeom>
          <a:solidFill>
            <a:srgbClr val="1E1F3D"/>
          </a:solidFill>
          <a:ln w="9525">
            <a:solidFill>
              <a:srgbClr val="2E2F55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868680" y="411480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9C8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happening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68680" y="4526280"/>
            <a:ext cx="530352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D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aws_s3_bucket.app (with for_each) is a map of objects, one per key</a:t>
            </a:r>
            <a:endParaRPr lang="en-US" sz="130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D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 expression like this turns it into a plain map or list</a:t>
            </a:r>
            <a:endParaRPr lang="en-US" sz="130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D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for an output, or for another resource to consume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858000" y="1737360"/>
            <a:ext cx="4754880" cy="4572000"/>
          </a:xfrm>
          <a:prstGeom prst="roundRect">
            <a:avLst>
              <a:gd name="adj" fmla="val 2400"/>
            </a:avLst>
          </a:prstGeom>
          <a:solidFill>
            <a:srgbClr val="23244A"/>
          </a:solidFill>
          <a:ln w="9525">
            <a:solidFill>
              <a:srgbClr val="2E2F55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7178040" y="1965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4DD0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OF OBJECTS  →  PLAIN MAP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178040" y="2423160"/>
            <a:ext cx="4114800" cy="685800"/>
          </a:xfrm>
          <a:prstGeom prst="roundRect">
            <a:avLst>
              <a:gd name="adj" fmla="val 10667"/>
            </a:avLst>
          </a:prstGeom>
          <a:solidFill>
            <a:srgbClr val="1E1F3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7360920" y="242316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9A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app["logs"]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89720" y="2670048"/>
            <a:ext cx="320040" cy="182880"/>
          </a:xfrm>
          <a:prstGeom prst="rightArrow">
            <a:avLst/>
          </a:prstGeom>
          <a:solidFill>
            <a:srgbClr val="6C4CE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9601200" y="2423160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2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myapp-logs-8f2a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178040" y="3291840"/>
            <a:ext cx="4114800" cy="685800"/>
          </a:xfrm>
          <a:prstGeom prst="roundRect">
            <a:avLst>
              <a:gd name="adj" fmla="val 10667"/>
            </a:avLst>
          </a:prstGeom>
          <a:solidFill>
            <a:srgbClr val="1E1F3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7360920" y="329184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9A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app["backups"]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189720" y="3538728"/>
            <a:ext cx="320040" cy="182880"/>
          </a:xfrm>
          <a:prstGeom prst="rightArrow">
            <a:avLst/>
          </a:prstGeom>
          <a:solidFill>
            <a:srgbClr val="6C4CE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9601200" y="3291840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2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myapp-backups-8f2a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178040" y="4251960"/>
            <a:ext cx="41148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D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bucket_names = {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D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logs    = "myapp-logs-8f2a"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D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backups = "myapp-backups-8f2a"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D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9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51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DD0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2  ·  COUNT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DED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Basic Form of count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6035040" cy="2331720"/>
          </a:xfrm>
          <a:prstGeom prst="roundRect">
            <a:avLst>
              <a:gd name="adj" fmla="val 4706"/>
            </a:avLst>
          </a:prstGeom>
          <a:solidFill>
            <a:srgbClr val="101122"/>
          </a:solidFill>
          <a:ln w="9525">
            <a:solidFill>
              <a:srgbClr val="2E2F55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6035040" cy="310896"/>
          </a:xfrm>
          <a:prstGeom prst="roundRect">
            <a:avLst>
              <a:gd name="adj" fmla="val 35294"/>
            </a:avLst>
          </a:prstGeom>
          <a:solidFill>
            <a:srgbClr val="1B1C3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548640" y="1938528"/>
            <a:ext cx="6035040" cy="109728"/>
          </a:xfrm>
          <a:prstGeom prst="rect">
            <a:avLst/>
          </a:prstGeom>
          <a:solidFill>
            <a:srgbClr val="1B1C3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685800" y="1847088"/>
            <a:ext cx="91440" cy="91440"/>
          </a:xfrm>
          <a:prstGeom prst="ellipse">
            <a:avLst/>
          </a:prstGeom>
          <a:solidFill>
            <a:srgbClr val="E564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886968" y="1847088"/>
            <a:ext cx="91440" cy="91440"/>
          </a:xfrm>
          <a:prstGeom prst="ellipse">
            <a:avLst/>
          </a:prstGeom>
          <a:solidFill>
            <a:srgbClr val="F2B85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1088136" y="1847088"/>
            <a:ext cx="91440" cy="91440"/>
          </a:xfrm>
          <a:prstGeom prst="ellipse">
            <a:avLst/>
          </a:prstGeom>
          <a:solidFill>
            <a:srgbClr val="6FCF9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1371600" y="1737360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A9A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main.tf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04672" y="2139696"/>
            <a:ext cx="5577840" cy="1837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DD0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resource </a:t>
            </a:r>
            <a:r>
              <a:rPr lang="en-US" sz="1250" dirty="0">
                <a:solidFill>
                  <a:srgbClr val="D8D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"aws_s3_bucket" "fleet" {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9FE8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count  = 3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8D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bucket = </a:t>
            </a:r>
            <a:r>
              <a:rPr lang="en-US" sz="1250" dirty="0">
                <a:solidFill>
                  <a:srgbClr val="F2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"myapp-fleet-${count.index}-${random_id.suffix.hex}"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8D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tags   = { Name = "fleet-${count.index}" }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8D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251960"/>
            <a:ext cx="6035040" cy="2057400"/>
          </a:xfrm>
          <a:prstGeom prst="roundRect">
            <a:avLst>
              <a:gd name="adj" fmla="val 5333"/>
            </a:avLst>
          </a:prstGeom>
          <a:solidFill>
            <a:srgbClr val="1E1F3D"/>
          </a:solidFill>
          <a:ln w="9525">
            <a:solidFill>
              <a:srgbClr val="2E2F55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868680" y="443484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9C8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“Create 3 copies of this bucket.”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68680" y="4983480"/>
            <a:ext cx="539496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D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= 3 creates three instances of this resource</a:t>
            </a:r>
            <a:endParaRPr lang="en-US" sz="130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D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count.index (0, 1, 2) is the only per-instance differentiator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858000" y="1737360"/>
            <a:ext cx="4754880" cy="4572000"/>
          </a:xfrm>
          <a:prstGeom prst="roundRect">
            <a:avLst>
              <a:gd name="adj" fmla="val 2400"/>
            </a:avLst>
          </a:prstGeom>
          <a:solidFill>
            <a:srgbClr val="23244A"/>
          </a:solidFill>
          <a:ln w="9525">
            <a:solidFill>
              <a:srgbClr val="2E2F55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7178040" y="1965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4DD0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POSITIONAL ADDRESSING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178040" y="2423160"/>
            <a:ext cx="4114800" cy="594360"/>
          </a:xfrm>
          <a:prstGeom prst="roundRect">
            <a:avLst>
              <a:gd name="adj" fmla="val 12308"/>
            </a:avLst>
          </a:prstGeom>
          <a:solidFill>
            <a:srgbClr val="1E1F3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7406640" y="242316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D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aws_s3_bucket.fleet[0]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178040" y="3154680"/>
            <a:ext cx="4114800" cy="594360"/>
          </a:xfrm>
          <a:prstGeom prst="roundRect">
            <a:avLst>
              <a:gd name="adj" fmla="val 12308"/>
            </a:avLst>
          </a:prstGeom>
          <a:solidFill>
            <a:srgbClr val="1E1F3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7406640" y="315468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D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aws_s3_bucket.fleet[1]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178040" y="3886200"/>
            <a:ext cx="4114800" cy="594360"/>
          </a:xfrm>
          <a:prstGeom prst="roundRect">
            <a:avLst>
              <a:gd name="adj" fmla="val 12308"/>
            </a:avLst>
          </a:prstGeom>
          <a:solidFill>
            <a:srgbClr val="1E1F3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7406640" y="38862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D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aws_s3_bucket.fleet[2]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178040" y="47548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9A9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 number — unlike for_each's string keys such as ["logs"].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9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2DC35D9-D869-4FD4-3B54-62CD30BD05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947862"/>
            <a:ext cx="11430000" cy="2962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79614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1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DD0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2  ·  COUNT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DED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 Driven by a Variable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6035040" cy="2651760"/>
          </a:xfrm>
          <a:prstGeom prst="roundRect">
            <a:avLst>
              <a:gd name="adj" fmla="val 4138"/>
            </a:avLst>
          </a:prstGeom>
          <a:solidFill>
            <a:srgbClr val="101122"/>
          </a:solidFill>
          <a:ln w="9525">
            <a:solidFill>
              <a:srgbClr val="2E2F55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6035040" cy="310896"/>
          </a:xfrm>
          <a:prstGeom prst="roundRect">
            <a:avLst>
              <a:gd name="adj" fmla="val 35294"/>
            </a:avLst>
          </a:prstGeom>
          <a:solidFill>
            <a:srgbClr val="1B1C3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548640" y="1938528"/>
            <a:ext cx="6035040" cy="109728"/>
          </a:xfrm>
          <a:prstGeom prst="rect">
            <a:avLst/>
          </a:prstGeom>
          <a:solidFill>
            <a:srgbClr val="1B1C3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685800" y="1847088"/>
            <a:ext cx="91440" cy="91440"/>
          </a:xfrm>
          <a:prstGeom prst="ellipse">
            <a:avLst/>
          </a:prstGeom>
          <a:solidFill>
            <a:srgbClr val="E564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886968" y="1847088"/>
            <a:ext cx="91440" cy="91440"/>
          </a:xfrm>
          <a:prstGeom prst="ellipse">
            <a:avLst/>
          </a:prstGeom>
          <a:solidFill>
            <a:srgbClr val="F2B85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1088136" y="1847088"/>
            <a:ext cx="91440" cy="91440"/>
          </a:xfrm>
          <a:prstGeom prst="ellipse">
            <a:avLst/>
          </a:prstGeom>
          <a:solidFill>
            <a:srgbClr val="6FCF9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1371600" y="1737360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A9A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variables.tf + main.tf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04672" y="2139696"/>
            <a:ext cx="5577840" cy="21579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DD0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variable </a:t>
            </a:r>
            <a:r>
              <a:rPr lang="en-US" sz="1250" dirty="0">
                <a:solidFill>
                  <a:srgbClr val="D8D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"fleet_size" {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8D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type    = </a:t>
            </a:r>
            <a:r>
              <a:rPr lang="en-US" sz="1250" dirty="0">
                <a:solidFill>
                  <a:srgbClr val="F2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number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8D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default = 2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8D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DD0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resource </a:t>
            </a:r>
            <a:r>
              <a:rPr lang="en-US" sz="1250" dirty="0">
                <a:solidFill>
                  <a:srgbClr val="D8D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"aws_s3_bucket" "fleet" {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9FE8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count  = var.fleet_size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8D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bucket = </a:t>
            </a:r>
            <a:r>
              <a:rPr lang="en-US" sz="1250" dirty="0">
                <a:solidFill>
                  <a:srgbClr val="F2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"myapp-fleet-${count.index}-..."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8D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178040" y="2057400"/>
            <a:ext cx="548640" cy="548640"/>
          </a:xfrm>
          <a:prstGeom prst="ellipse">
            <a:avLst/>
          </a:prstGeom>
          <a:solidFill>
            <a:srgbClr val="F2B85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7178040" y="2057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60" b="1" dirty="0">
                <a:solidFill>
                  <a:srgbClr val="1A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60" dirty="0"/>
          </a:p>
        </p:txBody>
      </p:sp>
      <p:sp>
        <p:nvSpPr>
          <p:cNvPr id="18" name="Text 16"/>
          <p:cNvSpPr/>
          <p:nvPr/>
        </p:nvSpPr>
        <p:spPr>
          <a:xfrm>
            <a:off x="7909560" y="205740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B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ahead — 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178040" y="2788920"/>
            <a:ext cx="42062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ED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use this exact same pattern to size a fleet of EC2 instances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7178040" y="4114800"/>
            <a:ext cx="4206240" cy="0"/>
          </a:xfrm>
          <a:prstGeom prst="line">
            <a:avLst/>
          </a:prstGeom>
          <a:noFill/>
          <a:ln w="12700">
            <a:solidFill>
              <a:srgbClr val="35366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7178040" y="4297680"/>
            <a:ext cx="42062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i="1" dirty="0">
                <a:solidFill>
                  <a:srgbClr val="9A9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variable → count pattern, new resource type.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9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51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2B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DED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 vs. for_each — Precisely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23244A"/>
          </a:solidFill>
          <a:ln w="9525">
            <a:solidFill>
              <a:srgbClr val="2E2F55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2926080" y="1691640"/>
            <a:ext cx="4343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DD0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269480" y="1691640"/>
            <a:ext cx="4343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for_each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240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E1F3D"/>
          </a:solidFill>
          <a:ln w="9525">
            <a:solidFill>
              <a:srgbClr val="2E2F55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777240" y="2240280"/>
            <a:ext cx="192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9C8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200400" y="2240280"/>
            <a:ext cx="3794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ED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543800" y="2240280"/>
            <a:ext cx="3794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ED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map or a set of strings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0175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A1B3A"/>
          </a:solidFill>
          <a:ln w="9525">
            <a:solidFill>
              <a:srgbClr val="2E2F55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777240" y="3017520"/>
            <a:ext cx="192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9C8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 address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200400" y="3017520"/>
            <a:ext cx="3794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ED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Positional: [0], [1]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543800" y="3017520"/>
            <a:ext cx="3794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ED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Keyed: ["logs"], ["dev"]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7947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E1F3D"/>
          </a:solidFill>
          <a:ln w="9525">
            <a:solidFill>
              <a:srgbClr val="2E2F55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777240" y="3794760"/>
            <a:ext cx="192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9C8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a middle item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200400" y="3794760"/>
            <a:ext cx="3794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ED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Shifts every later index — Terraform destroys &amp; recreates from that point 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543800" y="3794760"/>
            <a:ext cx="3794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ED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removed key's instance is affected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57200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1A1B3A"/>
          </a:solidFill>
          <a:ln w="9525">
            <a:solidFill>
              <a:srgbClr val="2E2F55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777240" y="4572000"/>
            <a:ext cx="1920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9C8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200400" y="4572000"/>
            <a:ext cx="3794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ED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resources — “how many” is the only variable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543800" y="4572000"/>
            <a:ext cx="3794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ED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 that differ by a stable, meaningful key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9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1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DD0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2  ·  COUNT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DED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Referencing Every Instance: Splat Expressions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943600" cy="1508760"/>
          </a:xfrm>
          <a:prstGeom prst="roundRect">
            <a:avLst>
              <a:gd name="adj" fmla="val 7273"/>
            </a:avLst>
          </a:prstGeom>
          <a:solidFill>
            <a:srgbClr val="101122"/>
          </a:solidFill>
          <a:ln w="9525">
            <a:solidFill>
              <a:srgbClr val="2E2F55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943600" cy="310896"/>
          </a:xfrm>
          <a:prstGeom prst="roundRect">
            <a:avLst>
              <a:gd name="adj" fmla="val 35294"/>
            </a:avLst>
          </a:prstGeom>
          <a:solidFill>
            <a:srgbClr val="1B1C3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548640" y="1938528"/>
            <a:ext cx="5943600" cy="109728"/>
          </a:xfrm>
          <a:prstGeom prst="rect">
            <a:avLst/>
          </a:prstGeom>
          <a:solidFill>
            <a:srgbClr val="1B1C3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685800" y="1847088"/>
            <a:ext cx="91440" cy="91440"/>
          </a:xfrm>
          <a:prstGeom prst="ellipse">
            <a:avLst/>
          </a:prstGeom>
          <a:solidFill>
            <a:srgbClr val="E564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886968" y="1847088"/>
            <a:ext cx="91440" cy="91440"/>
          </a:xfrm>
          <a:prstGeom prst="ellipse">
            <a:avLst/>
          </a:prstGeom>
          <a:solidFill>
            <a:srgbClr val="F2B85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1088136" y="1847088"/>
            <a:ext cx="91440" cy="91440"/>
          </a:xfrm>
          <a:prstGeom prst="ellipse">
            <a:avLst/>
          </a:prstGeom>
          <a:solidFill>
            <a:srgbClr val="6FCF9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1371600" y="1737360"/>
            <a:ext cx="4937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A9A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outputs.tf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04672" y="2139696"/>
            <a:ext cx="5486400" cy="10149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DD0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 </a:t>
            </a:r>
            <a:r>
              <a:rPr lang="en-US" sz="1250" dirty="0">
                <a:solidFill>
                  <a:srgbClr val="D8D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"fleet_bucket_names" {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2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value = aws_s3_bucket.fleet[*].bucket</a:t>
            </a:r>
            <a:endParaRPr lang="en-US" sz="12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D8D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383280"/>
            <a:ext cx="5943600" cy="1290320"/>
          </a:xfrm>
          <a:prstGeom prst="roundRect">
            <a:avLst>
              <a:gd name="adj" fmla="val 3750"/>
            </a:avLst>
          </a:prstGeom>
          <a:solidFill>
            <a:srgbClr val="1E1F3D"/>
          </a:solidFill>
          <a:ln w="9525">
            <a:solidFill>
              <a:srgbClr val="2E2F55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868680" y="35661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C8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[*] — the splat expression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68680" y="397764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D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Collects the bucket attribute from every instance into a single list.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858000" y="1737360"/>
            <a:ext cx="4754880" cy="4572000"/>
          </a:xfrm>
          <a:prstGeom prst="roundRect">
            <a:avLst>
              <a:gd name="adj" fmla="val 2400"/>
            </a:avLst>
          </a:prstGeom>
          <a:solidFill>
            <a:srgbClr val="23244A"/>
          </a:solidFill>
          <a:ln w="9525">
            <a:solidFill>
              <a:srgbClr val="2E2F55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7178040" y="20116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9A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fleet[0].bucket   fleet[1].bucket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006840" y="2423160"/>
            <a:ext cx="365760" cy="457200"/>
          </a:xfrm>
          <a:prstGeom prst="downArrow">
            <a:avLst/>
          </a:prstGeom>
          <a:solidFill>
            <a:srgbClr val="6C4CE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7178040" y="3017520"/>
            <a:ext cx="4114800" cy="2011680"/>
          </a:xfrm>
          <a:prstGeom prst="roundRect">
            <a:avLst>
              <a:gd name="adj" fmla="val 3636"/>
            </a:avLst>
          </a:prstGeom>
          <a:solidFill>
            <a:srgbClr val="10112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7406640" y="3200400"/>
            <a:ext cx="3657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D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
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2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"myapp-fleet-0-8f2a",
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2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"myapp-fleet-1-8f2a",
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D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178040" y="5212080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9A9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flat list, ordered by index.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9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5969B88-2CC1-815A-B5C9-E933B042083D}"/>
              </a:ext>
            </a:extLst>
          </p:cNvPr>
          <p:cNvSpPr txBox="1"/>
          <p:nvPr/>
        </p:nvSpPr>
        <p:spPr>
          <a:xfrm>
            <a:off x="1229360" y="223520"/>
            <a:ext cx="95300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3200" b="1" dirty="0"/>
              <a:t>Real Life Example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1AF485-FE0E-237E-91C5-B540F948DF89}"/>
              </a:ext>
            </a:extLst>
          </p:cNvPr>
          <p:cNvSpPr txBox="1"/>
          <p:nvPr/>
        </p:nvSpPr>
        <p:spPr>
          <a:xfrm>
            <a:off x="400049" y="812919"/>
            <a:ext cx="90201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Imagine you're running an e-commerce application</a:t>
            </a:r>
            <a:br>
              <a:rPr lang="en-IN" b="1" dirty="0"/>
            </a:br>
            <a:r>
              <a:rPr lang="en-IN" dirty="0"/>
              <a:t>You have three EC2 instances:</a:t>
            </a:r>
            <a:endParaRPr lang="en-IN" b="1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365CE1B-951D-C3F6-11CA-D2E317677B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1761456"/>
              </p:ext>
            </p:extLst>
          </p:nvPr>
        </p:nvGraphicFramePr>
        <p:xfrm>
          <a:off x="400049" y="1459250"/>
          <a:ext cx="10515600" cy="146304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069731285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080783324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5792986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Terraform Index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Server 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Purpose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57948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server[0]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frontend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Serves website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161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server[1]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backend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Runs APIs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35049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server[2]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database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Stores customer data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491135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404566B-A877-6AF1-60BD-8181DB14294A}"/>
              </a:ext>
            </a:extLst>
          </p:cNvPr>
          <p:cNvSpPr txBox="1"/>
          <p:nvPr/>
        </p:nvSpPr>
        <p:spPr>
          <a:xfrm>
            <a:off x="871537" y="3613666"/>
            <a:ext cx="172402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servers = [</a:t>
            </a:r>
          </a:p>
          <a:p>
            <a:r>
              <a:rPr lang="en-IN" dirty="0"/>
              <a:t>  "frontend",</a:t>
            </a:r>
          </a:p>
          <a:p>
            <a:r>
              <a:rPr lang="en-IN" dirty="0"/>
              <a:t>  "backend",</a:t>
            </a:r>
          </a:p>
          <a:p>
            <a:r>
              <a:rPr lang="en-IN" dirty="0"/>
              <a:t>  "database"</a:t>
            </a:r>
          </a:p>
          <a:p>
            <a:r>
              <a:rPr lang="en-IN" dirty="0"/>
              <a:t>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AD62DEB-3006-A5FE-923B-4D2DB3597B51}"/>
              </a:ext>
            </a:extLst>
          </p:cNvPr>
          <p:cNvSpPr txBox="1"/>
          <p:nvPr/>
        </p:nvSpPr>
        <p:spPr>
          <a:xfrm>
            <a:off x="871537" y="3244334"/>
            <a:ext cx="1514475" cy="369332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>
            <a:spAutoFit/>
          </a:bodyPr>
          <a:lstStyle/>
          <a:p>
            <a:r>
              <a:rPr lang="en-IN" dirty="0"/>
              <a:t>Using </a:t>
            </a:r>
            <a:r>
              <a:rPr lang="en-IN" dirty="0">
                <a:latin typeface="Courier New" panose="02070309020205020404" pitchFamily="49" charset="0"/>
              </a:rPr>
              <a:t>count</a:t>
            </a:r>
            <a:r>
              <a:rPr lang="en-IN" dirty="0"/>
              <a:t>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4B6DD4-4DB6-270E-C088-2ED457338642}"/>
              </a:ext>
            </a:extLst>
          </p:cNvPr>
          <p:cNvSpPr txBox="1"/>
          <p:nvPr/>
        </p:nvSpPr>
        <p:spPr>
          <a:xfrm>
            <a:off x="8567737" y="3381713"/>
            <a:ext cx="1704975" cy="369332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>
            <a:spAutoFit/>
          </a:bodyPr>
          <a:lstStyle/>
          <a:p>
            <a:r>
              <a:rPr lang="en-IN" dirty="0"/>
              <a:t>Terraform state: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524C4E-09A2-C76C-645F-9A3FEE26E3AE}"/>
              </a:ext>
            </a:extLst>
          </p:cNvPr>
          <p:cNvSpPr txBox="1"/>
          <p:nvPr/>
        </p:nvSpPr>
        <p:spPr>
          <a:xfrm>
            <a:off x="8415337" y="3751045"/>
            <a:ext cx="246697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server[0] -&gt; frontend</a:t>
            </a:r>
          </a:p>
          <a:p>
            <a:r>
              <a:rPr lang="en-IN" dirty="0"/>
              <a:t>server[1] -&gt; backend</a:t>
            </a:r>
          </a:p>
          <a:p>
            <a:r>
              <a:rPr lang="en-IN" dirty="0"/>
              <a:t>server[2] -&gt; database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9FC633E-55B6-A493-B322-C429FD3308BE}"/>
              </a:ext>
            </a:extLst>
          </p:cNvPr>
          <p:cNvSpPr txBox="1"/>
          <p:nvPr/>
        </p:nvSpPr>
        <p:spPr>
          <a:xfrm>
            <a:off x="1628774" y="4856799"/>
            <a:ext cx="8102600" cy="369332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>
            <a:spAutoFit/>
          </a:bodyPr>
          <a:lstStyle/>
          <a:p>
            <a:r>
              <a:rPr lang="en-IN" dirty="0"/>
              <a:t>Now the backend is no longer needed : You remove "backend" from the list: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394EA74-3864-51C1-9F8F-3C21E5EFAA98}"/>
              </a:ext>
            </a:extLst>
          </p:cNvPr>
          <p:cNvSpPr txBox="1"/>
          <p:nvPr/>
        </p:nvSpPr>
        <p:spPr>
          <a:xfrm>
            <a:off x="242887" y="5524225"/>
            <a:ext cx="157162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servers = [</a:t>
            </a:r>
          </a:p>
          <a:p>
            <a:r>
              <a:rPr lang="en-IN" dirty="0"/>
              <a:t>  "frontend",</a:t>
            </a:r>
          </a:p>
          <a:p>
            <a:r>
              <a:rPr lang="en-IN" dirty="0"/>
              <a:t>  "database"</a:t>
            </a:r>
          </a:p>
          <a:p>
            <a:r>
              <a:rPr lang="en-IN" dirty="0"/>
              <a:t>]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20717E2-B723-A487-BC72-A2FCCF9AFF29}"/>
              </a:ext>
            </a:extLst>
          </p:cNvPr>
          <p:cNvSpPr txBox="1"/>
          <p:nvPr/>
        </p:nvSpPr>
        <p:spPr>
          <a:xfrm>
            <a:off x="2609849" y="5545934"/>
            <a:ext cx="24003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Terraform now expects:</a:t>
            </a:r>
            <a:br>
              <a:rPr lang="en-IN" dirty="0"/>
            </a:br>
            <a:r>
              <a:rPr lang="en-IN" dirty="0"/>
              <a:t>server[0] -&gt; frontend</a:t>
            </a:r>
          </a:p>
          <a:p>
            <a:r>
              <a:rPr lang="en-IN" dirty="0"/>
              <a:t>server[1] -&gt; database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5E16E50-31BE-4A08-59BD-4E2E1C05CA27}"/>
              </a:ext>
            </a:extLst>
          </p:cNvPr>
          <p:cNvSpPr txBox="1"/>
          <p:nvPr/>
        </p:nvSpPr>
        <p:spPr>
          <a:xfrm>
            <a:off x="7043737" y="5545934"/>
            <a:ext cx="3048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Notice what happened:</a:t>
            </a:r>
            <a:br>
              <a:rPr lang="en-IN" dirty="0"/>
            </a:br>
            <a:r>
              <a:rPr lang="en-US" dirty="0"/>
              <a:t>Old server[1] = backend</a:t>
            </a:r>
          </a:p>
          <a:p>
            <a:r>
              <a:rPr lang="en-US" dirty="0"/>
              <a:t>New server[1] = database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148694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0099186-D44C-C27F-3CBB-30A8C66EDC81}"/>
              </a:ext>
            </a:extLst>
          </p:cNvPr>
          <p:cNvSpPr txBox="1"/>
          <p:nvPr/>
        </p:nvSpPr>
        <p:spPr>
          <a:xfrm>
            <a:off x="590550" y="211693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Terraform cannot simply rename the instance. It sees:</a:t>
            </a:r>
            <a:br>
              <a:rPr lang="en-IN" dirty="0"/>
            </a:br>
            <a:r>
              <a:rPr lang="en-IN" dirty="0"/>
              <a:t>"The resource at index 1 changed from backend to database." "The old database at index 2 no longer exists."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D92F32-6FF8-4FF5-550C-ED2B4118EF73}"/>
              </a:ext>
            </a:extLst>
          </p:cNvPr>
          <p:cNvSpPr txBox="1"/>
          <p:nvPr/>
        </p:nvSpPr>
        <p:spPr>
          <a:xfrm>
            <a:off x="4657725" y="1406009"/>
            <a:ext cx="18383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dirty="0"/>
              <a:t>So it plans: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E63A11-353F-6A3F-A760-BA3CFE3EA714}"/>
              </a:ext>
            </a:extLst>
          </p:cNvPr>
          <p:cNvSpPr txBox="1"/>
          <p:nvPr/>
        </p:nvSpPr>
        <p:spPr>
          <a:xfrm>
            <a:off x="4010025" y="1789926"/>
            <a:ext cx="2981325" cy="9233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>
            <a:spAutoFit/>
          </a:bodyPr>
          <a:lstStyle/>
          <a:p>
            <a:r>
              <a:rPr lang="en-IN" dirty="0"/>
              <a:t>Destroy backend</a:t>
            </a:r>
          </a:p>
          <a:p>
            <a:r>
              <a:rPr lang="en-IN" dirty="0"/>
              <a:t>Destroy database</a:t>
            </a:r>
          </a:p>
          <a:p>
            <a:r>
              <a:rPr lang="en-IN" dirty="0"/>
              <a:t>Create new database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4E4E6A-168F-23CD-48C8-B068CA7BAD27}"/>
              </a:ext>
            </a:extLst>
          </p:cNvPr>
          <p:cNvSpPr txBox="1"/>
          <p:nvPr/>
        </p:nvSpPr>
        <p:spPr>
          <a:xfrm>
            <a:off x="819150" y="3267582"/>
            <a:ext cx="34671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The real-life problem</a:t>
            </a:r>
          </a:p>
          <a:p>
            <a:pPr>
              <a:buNone/>
            </a:pPr>
            <a:r>
              <a:rPr lang="en-IN" dirty="0"/>
              <a:t>Suppose the database server has: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/>
              <a:t>2 TB of data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/>
              <a:t>Static private IP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/>
              <a:t>Monitoring agents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/>
              <a:t>DNS records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45D135F-ED0C-9084-BF24-DE0BFC50D5E6}"/>
              </a:ext>
            </a:extLst>
          </p:cNvPr>
          <p:cNvSpPr txBox="1"/>
          <p:nvPr/>
        </p:nvSpPr>
        <p:spPr>
          <a:xfrm>
            <a:off x="5276850" y="3890665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downtime, new instance IDs, new private IPs (unless you've engineered around this), reconfiguration, interruption of services.</a:t>
            </a:r>
          </a:p>
        </p:txBody>
      </p:sp>
    </p:spTree>
    <p:extLst>
      <p:ext uri="{BB962C8B-B14F-4D97-AF65-F5344CB8AC3E}">
        <p14:creationId xmlns:p14="http://schemas.microsoft.com/office/powerpoint/2010/main" val="7854853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4372621-8898-A662-EE68-E77FBC9795AC}"/>
              </a:ext>
            </a:extLst>
          </p:cNvPr>
          <p:cNvSpPr txBox="1"/>
          <p:nvPr/>
        </p:nvSpPr>
        <p:spPr>
          <a:xfrm>
            <a:off x="3048000" y="544890"/>
            <a:ext cx="4124325" cy="544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400" b="1" dirty="0"/>
              <a:t>Why </a:t>
            </a:r>
            <a:r>
              <a:rPr lang="en-IN" sz="2400" b="1" dirty="0" err="1"/>
              <a:t>for_each</a:t>
            </a:r>
            <a:r>
              <a:rPr lang="en-IN" sz="2400" b="1" dirty="0"/>
              <a:t> avoids this</a:t>
            </a:r>
          </a:p>
          <a:p>
            <a:pPr>
              <a:buNone/>
            </a:pPr>
            <a:endParaRPr lang="en-IN" b="1" dirty="0"/>
          </a:p>
          <a:p>
            <a:pPr>
              <a:buNone/>
            </a:pPr>
            <a:r>
              <a:rPr lang="en-IN" dirty="0"/>
              <a:t>With </a:t>
            </a:r>
            <a:r>
              <a:rPr lang="en-IN" dirty="0" err="1"/>
              <a:t>for_each</a:t>
            </a:r>
            <a:r>
              <a:rPr lang="en-IN" dirty="0"/>
              <a:t>:</a:t>
            </a:r>
          </a:p>
          <a:p>
            <a:pPr rtl="0">
              <a:buNone/>
            </a:pPr>
            <a:r>
              <a:rPr lang="en-IN" dirty="0"/>
              <a:t>server["web"]</a:t>
            </a:r>
          </a:p>
          <a:p>
            <a:pPr rtl="0">
              <a:buNone/>
            </a:pPr>
            <a:r>
              <a:rPr lang="en-IN" dirty="0"/>
              <a:t>server["payment"]</a:t>
            </a:r>
          </a:p>
          <a:p>
            <a:pPr rtl="0">
              <a:buNone/>
            </a:pPr>
            <a:r>
              <a:rPr lang="en-IN" dirty="0"/>
              <a:t>server["reporting"]</a:t>
            </a:r>
          </a:p>
          <a:p>
            <a:pPr rtl="0">
              <a:buNone/>
            </a:pPr>
            <a:endParaRPr lang="en-IN" dirty="0">
              <a:latin typeface="Courier New" panose="02070309020205020404" pitchFamily="49" charset="0"/>
            </a:endParaRPr>
          </a:p>
          <a:p>
            <a:pPr rtl="0">
              <a:buNone/>
            </a:pPr>
            <a:endParaRPr lang="en-IN" dirty="0">
              <a:latin typeface="Courier New" panose="02070309020205020404" pitchFamily="49" charset="0"/>
            </a:endParaRPr>
          </a:p>
          <a:p>
            <a:pPr rtl="0">
              <a:buNone/>
            </a:pPr>
            <a:endParaRPr lang="en-IN" dirty="0"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en-IN" dirty="0"/>
              <a:t>Delete </a:t>
            </a:r>
            <a:r>
              <a:rPr lang="en-IN" dirty="0">
                <a:latin typeface="Courier New" panose="02070309020205020404" pitchFamily="49" charset="0"/>
              </a:rPr>
              <a:t>"payment"</a:t>
            </a:r>
            <a:r>
              <a:rPr lang="en-IN" dirty="0"/>
              <a:t>:</a:t>
            </a:r>
          </a:p>
          <a:p>
            <a:pPr>
              <a:buNone/>
            </a:pPr>
            <a:endParaRPr lang="en-IN" dirty="0"/>
          </a:p>
          <a:p>
            <a:pPr>
              <a:buNone/>
            </a:pPr>
            <a:endParaRPr lang="en-IN" dirty="0"/>
          </a:p>
          <a:p>
            <a:pPr>
              <a:buNone/>
            </a:pPr>
            <a:endParaRPr lang="en-IN" dirty="0"/>
          </a:p>
          <a:p>
            <a:pPr>
              <a:buNone/>
            </a:pPr>
            <a:r>
              <a:rPr lang="en-IN" dirty="0"/>
              <a:t>Terraform knows:</a:t>
            </a:r>
          </a:p>
          <a:p>
            <a:pPr rtl="0">
              <a:buNone/>
            </a:pPr>
            <a:r>
              <a:rPr lang="en-IN" dirty="0">
                <a:latin typeface="Courier New" panose="02070309020205020404" pitchFamily="49" charset="0"/>
              </a:rPr>
              <a:t>web       → same</a:t>
            </a:r>
          </a:p>
          <a:p>
            <a:pPr rtl="0">
              <a:buNone/>
            </a:pPr>
            <a:r>
              <a:rPr lang="en-IN" dirty="0">
                <a:latin typeface="Courier New" panose="02070309020205020404" pitchFamily="49" charset="0"/>
              </a:rPr>
              <a:t>payment   → delete</a:t>
            </a:r>
          </a:p>
          <a:p>
            <a:pPr rtl="0">
              <a:buNone/>
            </a:pPr>
            <a:r>
              <a:rPr lang="en-IN" dirty="0">
                <a:latin typeface="Courier New" panose="02070309020205020404" pitchFamily="49" charset="0"/>
              </a:rPr>
              <a:t>reporting → same</a:t>
            </a:r>
          </a:p>
          <a:p>
            <a:pPr rtl="0">
              <a:buNone/>
            </a:pPr>
            <a:endParaRPr lang="en-IN" dirty="0"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en-IN" dirty="0"/>
              <a:t>Only the intended resource is affected.</a:t>
            </a:r>
          </a:p>
        </p:txBody>
      </p:sp>
    </p:spTree>
    <p:extLst>
      <p:ext uri="{BB962C8B-B14F-4D97-AF65-F5344CB8AC3E}">
        <p14:creationId xmlns:p14="http://schemas.microsoft.com/office/powerpoint/2010/main" val="12932311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9C2E7E5-17DF-49BD-31F2-1850EC8651B2}"/>
              </a:ext>
            </a:extLst>
          </p:cNvPr>
          <p:cNvSpPr txBox="1"/>
          <p:nvPr/>
        </p:nvSpPr>
        <p:spPr>
          <a:xfrm>
            <a:off x="3581400" y="243959"/>
            <a:ext cx="6096000" cy="369332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>
            <a:spAutoFit/>
          </a:bodyPr>
          <a:lstStyle/>
          <a:p>
            <a:r>
              <a:rPr lang="en-IN" b="1" dirty="0"/>
              <a:t>When </a:t>
            </a:r>
            <a:r>
              <a:rPr lang="en-IN" b="1" dirty="0">
                <a:latin typeface="Courier New" panose="02070309020205020404" pitchFamily="49" charset="0"/>
              </a:rPr>
              <a:t>count</a:t>
            </a:r>
            <a:r>
              <a:rPr lang="en-IN" b="1" dirty="0"/>
              <a:t> is still fine:</a:t>
            </a:r>
            <a:r>
              <a:rPr lang="en-IN" dirty="0"/>
              <a:t> Auto Scaling-style web servers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A1C2D6-D027-B1E4-5798-D70286965EC1}"/>
              </a:ext>
            </a:extLst>
          </p:cNvPr>
          <p:cNvSpPr txBox="1"/>
          <p:nvPr/>
        </p:nvSpPr>
        <p:spPr>
          <a:xfrm>
            <a:off x="581024" y="828675"/>
            <a:ext cx="8029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Suppose your website needs </a:t>
            </a:r>
            <a:r>
              <a:rPr lang="en-IN" b="1" dirty="0"/>
              <a:t>3 identical web servers</a:t>
            </a:r>
            <a:r>
              <a:rPr lang="en-IN" dirty="0"/>
              <a:t> behind a load balancer.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458952-E756-F3F7-EB0E-2E408934A83E}"/>
              </a:ext>
            </a:extLst>
          </p:cNvPr>
          <p:cNvSpPr txBox="1"/>
          <p:nvPr/>
        </p:nvSpPr>
        <p:spPr>
          <a:xfrm>
            <a:off x="4286250" y="1289388"/>
            <a:ext cx="36195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         Internet</a:t>
            </a:r>
          </a:p>
          <a:p>
            <a:r>
              <a:rPr lang="en-IN" dirty="0"/>
              <a:t>                │</a:t>
            </a:r>
          </a:p>
          <a:p>
            <a:r>
              <a:rPr lang="en-IN" dirty="0"/>
              <a:t>       Load Balancer</a:t>
            </a:r>
          </a:p>
          <a:p>
            <a:r>
              <a:rPr lang="en-IN" dirty="0"/>
              <a:t>                │</a:t>
            </a:r>
          </a:p>
          <a:p>
            <a:r>
              <a:rPr lang="en-IN" dirty="0"/>
              <a:t> ┌───------──--------┐</a:t>
            </a:r>
          </a:p>
          <a:p>
            <a:r>
              <a:rPr lang="en-IN" dirty="0"/>
              <a:t> │             │               │</a:t>
            </a:r>
          </a:p>
          <a:p>
            <a:r>
              <a:rPr lang="en-IN" dirty="0"/>
              <a:t>Web-1  Web-2  Web-3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164EC6-D08D-9989-800B-1168754B2A4A}"/>
              </a:ext>
            </a:extLst>
          </p:cNvPr>
          <p:cNvSpPr txBox="1"/>
          <p:nvPr/>
        </p:nvSpPr>
        <p:spPr>
          <a:xfrm>
            <a:off x="495300" y="3438525"/>
            <a:ext cx="451485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All three servers: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Run the same application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Use the same AMI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Have the same configuration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Store no local data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Can be replaced at any time</a:t>
            </a:r>
          </a:p>
          <a:p>
            <a:endParaRPr lang="en-IN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BB6705-3F98-E3A4-20CA-9300D2B8EC79}"/>
              </a:ext>
            </a:extLst>
          </p:cNvPr>
          <p:cNvSpPr txBox="1"/>
          <p:nvPr/>
        </p:nvSpPr>
        <p:spPr>
          <a:xfrm>
            <a:off x="7877175" y="2802642"/>
            <a:ext cx="3819525" cy="2862322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>
            <a:spAutoFit/>
          </a:bodyPr>
          <a:lstStyle/>
          <a:p>
            <a:r>
              <a:rPr lang="en-IN"/>
              <a:t>variable "instance_count" {</a:t>
            </a:r>
          </a:p>
          <a:p>
            <a:r>
              <a:rPr lang="en-IN"/>
              <a:t>  default = 3</a:t>
            </a:r>
          </a:p>
          <a:p>
            <a:r>
              <a:rPr lang="en-IN"/>
              <a:t>}</a:t>
            </a:r>
          </a:p>
          <a:p>
            <a:endParaRPr lang="en-IN"/>
          </a:p>
          <a:p>
            <a:r>
              <a:rPr lang="en-IN"/>
              <a:t>resource "aws_instance" "web" {</a:t>
            </a:r>
          </a:p>
          <a:p>
            <a:r>
              <a:rPr lang="en-IN"/>
              <a:t>  count = var.instance_count</a:t>
            </a:r>
          </a:p>
          <a:p>
            <a:endParaRPr lang="en-IN"/>
          </a:p>
          <a:p>
            <a:r>
              <a:rPr lang="en-IN"/>
              <a:t>  ami           = "ami-12345"</a:t>
            </a:r>
          </a:p>
          <a:p>
            <a:r>
              <a:rPr lang="en-IN"/>
              <a:t>  instance_type = "t3.micro"</a:t>
            </a:r>
          </a:p>
          <a:p>
            <a:r>
              <a:rPr lang="en-IN"/>
              <a:t>}</a:t>
            </a:r>
            <a:endParaRPr lang="en-IN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E078AAC-97D3-080E-EAD5-C3647E910F71}"/>
              </a:ext>
            </a:extLst>
          </p:cNvPr>
          <p:cNvSpPr txBox="1"/>
          <p:nvPr/>
        </p:nvSpPr>
        <p:spPr>
          <a:xfrm>
            <a:off x="161925" y="5557540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Now suppose you reduce the count:</a:t>
            </a:r>
            <a:br>
              <a:rPr lang="en-IN" b="1" dirty="0"/>
            </a:br>
            <a:endParaRPr lang="en-IN" b="1" dirty="0"/>
          </a:p>
          <a:p>
            <a:r>
              <a:rPr lang="en-IN" dirty="0" err="1"/>
              <a:t>instance_count</a:t>
            </a:r>
            <a:r>
              <a:rPr lang="en-IN" dirty="0"/>
              <a:t> = 2</a:t>
            </a:r>
          </a:p>
        </p:txBody>
      </p:sp>
    </p:spTree>
    <p:extLst>
      <p:ext uri="{BB962C8B-B14F-4D97-AF65-F5344CB8AC3E}">
        <p14:creationId xmlns:p14="http://schemas.microsoft.com/office/powerpoint/2010/main" val="30869920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1295</TotalTime>
  <Words>1511</Words>
  <Application>Microsoft Office PowerPoint</Application>
  <PresentationFormat>Widescreen</PresentationFormat>
  <Paragraphs>270</Paragraphs>
  <Slides>15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Calibri</vt:lpstr>
      <vt:lpstr>Cambria</vt:lpstr>
      <vt:lpstr>Consolas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Abhoy Kumar Mondal</cp:lastModifiedBy>
  <cp:revision>3</cp:revision>
  <dcterms:created xsi:type="dcterms:W3CDTF">2026-07-16T09:46:46Z</dcterms:created>
  <dcterms:modified xsi:type="dcterms:W3CDTF">2026-07-17T07:31:30Z</dcterms:modified>
</cp:coreProperties>
</file>