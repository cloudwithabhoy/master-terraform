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57" r:id="rId4"/>
    <p:sldId id="258" r:id="rId5"/>
    <p:sldId id="259" r:id="rId6"/>
    <p:sldId id="260" r:id="rId7"/>
    <p:sldId id="262" r:id="rId8"/>
    <p:sldId id="268" r:id="rId9"/>
    <p:sldId id="263" r:id="rId10"/>
    <p:sldId id="265" r:id="rId11"/>
    <p:sldId id="264" r:id="rId12"/>
    <p:sldId id="272" r:id="rId13"/>
    <p:sldId id="273" r:id="rId14"/>
    <p:sldId id="274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2865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300" dirty="0">
                <a:solidFill>
                  <a:srgbClr val="5C4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META-ARGUMENTS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9418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C26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</a:t>
            </a:r>
            <a:r>
              <a:rPr lang="en-US" sz="4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4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</a:t>
            </a:r>
            <a:r>
              <a:rPr lang="en-US" sz="4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800" b="1" dirty="0" err="1">
                <a:solidFill>
                  <a:srgbClr val="5C4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for_each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resource block instead of many — looping with for_each and count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8920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6C4C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4892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for_each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48920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2324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108960" y="4892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count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48EE30C-DFDF-7238-3AAF-4AD418E378F6}"/>
              </a:ext>
            </a:extLst>
          </p:cNvPr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4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BASICS</a:t>
            </a:r>
            <a:endParaRPr lang="en-US" sz="13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4C7F19F-3324-AA59-933E-1F7FC3435ED6}"/>
              </a:ext>
            </a:extLst>
          </p:cNvPr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“meta-argument”?</a:t>
            </a:r>
            <a:endParaRPr lang="en-US" sz="30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6331C56-AD9F-A12F-8CB0-598905C2CCE0}"/>
              </a:ext>
            </a:extLst>
          </p:cNvPr>
          <p:cNvSpPr/>
          <p:nvPr/>
        </p:nvSpPr>
        <p:spPr>
          <a:xfrm>
            <a:off x="54864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Terraform, a resource block normally describes </a:t>
            </a:r>
            <a:r>
              <a:rPr lang="en-US" sz="1600" b="1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thing — one server, one bucket, one user.</a:t>
            </a:r>
            <a:endParaRPr lang="en-US" sz="16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9320625-B38F-BF8B-3619-D76F0CE5A2DA}"/>
              </a:ext>
            </a:extLst>
          </p:cNvPr>
          <p:cNvSpPr/>
          <p:nvPr/>
        </p:nvSpPr>
        <p:spPr>
          <a:xfrm>
            <a:off x="548640" y="1920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meta-argument is a special setting you add to that block to say “actually, make several of these” — without copy-pasting the block over and over.</a:t>
            </a:r>
            <a:endParaRPr lang="en-US" sz="160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76EDD62E-FC3C-8257-DF0D-9E20BC7CCB16}"/>
              </a:ext>
            </a:extLst>
          </p:cNvPr>
          <p:cNvSpPr/>
          <p:nvPr/>
        </p:nvSpPr>
        <p:spPr>
          <a:xfrm>
            <a:off x="548640" y="2834640"/>
            <a:ext cx="3291840" cy="2651760"/>
          </a:xfrm>
          <a:prstGeom prst="roundRect">
            <a:avLst>
              <a:gd name="adj" fmla="val 3448"/>
            </a:avLst>
          </a:prstGeom>
          <a:solidFill>
            <a:srgbClr val="F4F4F8"/>
          </a:solidFill>
          <a:ln w="12700">
            <a:solidFill>
              <a:srgbClr val="E2E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E7B0E42-17C2-F529-A580-C4B2DD0C3690}"/>
              </a:ext>
            </a:extLst>
          </p:cNvPr>
          <p:cNvSpPr/>
          <p:nvPr/>
        </p:nvSpPr>
        <p:spPr>
          <a:xfrm>
            <a:off x="777240" y="3017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meta-argument</a:t>
            </a:r>
            <a:endParaRPr lang="en-US" sz="13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B6C79BB7-1000-E4DE-F922-53A6929B5D93}"/>
              </a:ext>
            </a:extLst>
          </p:cNvPr>
          <p:cNvSpPr/>
          <p:nvPr/>
        </p:nvSpPr>
        <p:spPr>
          <a:xfrm>
            <a:off x="868680" y="35204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D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133EB4F8-0792-4C22-B180-32DB472F5744}"/>
              </a:ext>
            </a:extLst>
          </p:cNvPr>
          <p:cNvSpPr/>
          <p:nvPr/>
        </p:nvSpPr>
        <p:spPr>
          <a:xfrm>
            <a:off x="1051560" y="3749040"/>
            <a:ext cx="457200" cy="457200"/>
          </a:xfrm>
          <a:prstGeom prst="ellipse">
            <a:avLst/>
          </a:prstGeom>
          <a:solidFill>
            <a:srgbClr val="5C4E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566A098C-FD4A-3CC1-E86B-B190E7863E94}"/>
              </a:ext>
            </a:extLst>
          </p:cNvPr>
          <p:cNvSpPr/>
          <p:nvPr/>
        </p:nvSpPr>
        <p:spPr>
          <a:xfrm>
            <a:off x="105156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DBEB66AC-C154-B4EC-75C5-6BA757AF7EF1}"/>
              </a:ext>
            </a:extLst>
          </p:cNvPr>
          <p:cNvSpPr/>
          <p:nvPr/>
        </p:nvSpPr>
        <p:spPr>
          <a:xfrm>
            <a:off x="160020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one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</a:t>
            </a:r>
            <a:endParaRPr lang="en-US" sz="125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C59C5C6B-90A9-5104-3531-F4E2FB802CA9}"/>
              </a:ext>
            </a:extLst>
          </p:cNvPr>
          <p:cNvSpPr/>
          <p:nvPr/>
        </p:nvSpPr>
        <p:spPr>
          <a:xfrm>
            <a:off x="868680" y="46177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— until you need 3, 10, or 50 similar ones.</a:t>
            </a:r>
            <a:endParaRPr lang="en-US" sz="115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8440E52E-BFE5-89D1-6C70-DF339F705658}"/>
              </a:ext>
            </a:extLst>
          </p:cNvPr>
          <p:cNvSpPr/>
          <p:nvPr/>
        </p:nvSpPr>
        <p:spPr>
          <a:xfrm>
            <a:off x="4069080" y="3931920"/>
            <a:ext cx="822960" cy="457200"/>
          </a:xfrm>
          <a:prstGeom prst="rightArrow">
            <a:avLst/>
          </a:prstGeom>
          <a:solidFill>
            <a:srgbClr val="5C4E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2EBBEED9-0C52-4C94-5EE3-066BB4E789F0}"/>
              </a:ext>
            </a:extLst>
          </p:cNvPr>
          <p:cNvSpPr/>
          <p:nvPr/>
        </p:nvSpPr>
        <p:spPr>
          <a:xfrm>
            <a:off x="5120640" y="2834640"/>
            <a:ext cx="6492240" cy="2651760"/>
          </a:xfrm>
          <a:prstGeom prst="roundRect">
            <a:avLst>
              <a:gd name="adj" fmla="val 3448"/>
            </a:avLst>
          </a:prstGeom>
          <a:solidFill>
            <a:srgbClr val="F4F4F8"/>
          </a:solidFill>
          <a:ln w="12700">
            <a:solidFill>
              <a:srgbClr val="E2E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7D3D494C-751F-1ADD-6BC2-B1133F72BDF7}"/>
              </a:ext>
            </a:extLst>
          </p:cNvPr>
          <p:cNvSpPr/>
          <p:nvPr/>
        </p:nvSpPr>
        <p:spPr>
          <a:xfrm>
            <a:off x="5349240" y="30175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meta-argument (count or for_each)</a:t>
            </a:r>
            <a:endParaRPr lang="en-US" sz="1300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6CF8861E-20E9-EC88-EDC4-CDC5A2303703}"/>
              </a:ext>
            </a:extLst>
          </p:cNvPr>
          <p:cNvSpPr/>
          <p:nvPr/>
        </p:nvSpPr>
        <p:spPr>
          <a:xfrm>
            <a:off x="5349240" y="356616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D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CB463A15-B8B5-F2DE-E6A5-18AEE573884F}"/>
              </a:ext>
            </a:extLst>
          </p:cNvPr>
          <p:cNvSpPr/>
          <p:nvPr/>
        </p:nvSpPr>
        <p:spPr>
          <a:xfrm>
            <a:off x="5806440" y="3730752"/>
            <a:ext cx="457200" cy="457200"/>
          </a:xfrm>
          <a:prstGeom prst="ellipse">
            <a:avLst/>
          </a:prstGeom>
          <a:solidFill>
            <a:srgbClr val="5C4E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2FF7FF70-2117-31E2-B2FD-F2DC90D1AEEB}"/>
              </a:ext>
            </a:extLst>
          </p:cNvPr>
          <p:cNvSpPr/>
          <p:nvPr/>
        </p:nvSpPr>
        <p:spPr>
          <a:xfrm>
            <a:off x="5806440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936925C4-72D1-FA1A-379F-EB7B1A58DD8D}"/>
              </a:ext>
            </a:extLst>
          </p:cNvPr>
          <p:cNvSpPr/>
          <p:nvPr/>
        </p:nvSpPr>
        <p:spPr>
          <a:xfrm>
            <a:off x="5349240" y="4224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</a:t>
            </a:r>
            <a:endParaRPr lang="en-US" sz="1050" dirty="0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EBF89B5D-103F-1656-EA9A-CBAB84E9828C}"/>
              </a:ext>
            </a:extLst>
          </p:cNvPr>
          <p:cNvSpPr/>
          <p:nvPr/>
        </p:nvSpPr>
        <p:spPr>
          <a:xfrm>
            <a:off x="6949440" y="356616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D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424D9839-15F4-92E8-F37C-E67BE9E88962}"/>
              </a:ext>
            </a:extLst>
          </p:cNvPr>
          <p:cNvSpPr/>
          <p:nvPr/>
        </p:nvSpPr>
        <p:spPr>
          <a:xfrm>
            <a:off x="7406640" y="3730752"/>
            <a:ext cx="457200" cy="457200"/>
          </a:xfrm>
          <a:prstGeom prst="ellipse">
            <a:avLst/>
          </a:prstGeom>
          <a:solidFill>
            <a:srgbClr val="C262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5A590C5B-E848-6824-57C2-F64C75FEFFD3}"/>
              </a:ext>
            </a:extLst>
          </p:cNvPr>
          <p:cNvSpPr/>
          <p:nvPr/>
        </p:nvSpPr>
        <p:spPr>
          <a:xfrm>
            <a:off x="7406640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BDA2B085-E8EB-7810-C16A-9C6B7B4D3A66}"/>
              </a:ext>
            </a:extLst>
          </p:cNvPr>
          <p:cNvSpPr/>
          <p:nvPr/>
        </p:nvSpPr>
        <p:spPr>
          <a:xfrm>
            <a:off x="6949440" y="4224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</a:t>
            </a:r>
            <a:endParaRPr lang="en-US" sz="1050" dirty="0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8D7076BE-AB64-14A7-D8F9-7205994D5C0F}"/>
              </a:ext>
            </a:extLst>
          </p:cNvPr>
          <p:cNvSpPr/>
          <p:nvPr/>
        </p:nvSpPr>
        <p:spPr>
          <a:xfrm>
            <a:off x="8549640" y="356616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D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D9D39435-56B2-ABD8-8C2E-025FC5A7F109}"/>
              </a:ext>
            </a:extLst>
          </p:cNvPr>
          <p:cNvSpPr/>
          <p:nvPr/>
        </p:nvSpPr>
        <p:spPr>
          <a:xfrm>
            <a:off x="9006840" y="3730752"/>
            <a:ext cx="457200" cy="457200"/>
          </a:xfrm>
          <a:prstGeom prst="ellipse">
            <a:avLst/>
          </a:prstGeom>
          <a:solidFill>
            <a:srgbClr val="5C4E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E3BF9C53-AD59-FF81-4E4E-B95CC28E548D}"/>
              </a:ext>
            </a:extLst>
          </p:cNvPr>
          <p:cNvSpPr/>
          <p:nvPr/>
        </p:nvSpPr>
        <p:spPr>
          <a:xfrm>
            <a:off x="9006840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29188F03-688D-D462-7A1F-0275272CE3BA}"/>
              </a:ext>
            </a:extLst>
          </p:cNvPr>
          <p:cNvSpPr/>
          <p:nvPr/>
        </p:nvSpPr>
        <p:spPr>
          <a:xfrm>
            <a:off x="8549640" y="4224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</a:t>
            </a:r>
            <a:endParaRPr lang="en-US" sz="1050" dirty="0"/>
          </a:p>
        </p:txBody>
      </p:sp>
      <p:sp>
        <p:nvSpPr>
          <p:cNvPr id="55" name="Shape 26">
            <a:extLst>
              <a:ext uri="{FF2B5EF4-FFF2-40B4-BE49-F238E27FC236}">
                <a16:creationId xmlns:a16="http://schemas.microsoft.com/office/drawing/2014/main" id="{6B7F777C-F404-5C6B-BBBD-D0BC37D42050}"/>
              </a:ext>
            </a:extLst>
          </p:cNvPr>
          <p:cNvSpPr/>
          <p:nvPr/>
        </p:nvSpPr>
        <p:spPr>
          <a:xfrm>
            <a:off x="10149840" y="356616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D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27">
            <a:extLst>
              <a:ext uri="{FF2B5EF4-FFF2-40B4-BE49-F238E27FC236}">
                <a16:creationId xmlns:a16="http://schemas.microsoft.com/office/drawing/2014/main" id="{F08B7F48-209C-04E6-CA50-1CE83D6CD013}"/>
              </a:ext>
            </a:extLst>
          </p:cNvPr>
          <p:cNvSpPr/>
          <p:nvPr/>
        </p:nvSpPr>
        <p:spPr>
          <a:xfrm>
            <a:off x="10607040" y="3730752"/>
            <a:ext cx="457200" cy="457200"/>
          </a:xfrm>
          <a:prstGeom prst="ellipse">
            <a:avLst/>
          </a:prstGeom>
          <a:solidFill>
            <a:srgbClr val="C262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C51CB968-C50D-09D2-2A2E-DBDD88A69571}"/>
              </a:ext>
            </a:extLst>
          </p:cNvPr>
          <p:cNvSpPr/>
          <p:nvPr/>
        </p:nvSpPr>
        <p:spPr>
          <a:xfrm>
            <a:off x="10607040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F432F925-DD36-73B8-0537-0F0506ED2781}"/>
              </a:ext>
            </a:extLst>
          </p:cNvPr>
          <p:cNvSpPr/>
          <p:nvPr/>
        </p:nvSpPr>
        <p:spPr>
          <a:xfrm>
            <a:off x="10149840" y="4224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</a:t>
            </a:r>
            <a:endParaRPr lang="en-US" sz="1050" dirty="0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0B6ABA0C-E7F4-9242-EFAE-9118FDF30663}"/>
              </a:ext>
            </a:extLst>
          </p:cNvPr>
          <p:cNvSpPr/>
          <p:nvPr/>
        </p:nvSpPr>
        <p:spPr>
          <a:xfrm>
            <a:off x="5349240" y="48006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block, multiple instances — Terraform loops it for you.</a:t>
            </a:r>
            <a:endParaRPr lang="en-US" sz="1150" dirty="0"/>
          </a:p>
        </p:txBody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3054EAB6-F183-ADD9-5677-1944A250242E}"/>
              </a:ext>
            </a:extLst>
          </p:cNvPr>
          <p:cNvSpPr/>
          <p:nvPr/>
        </p:nvSpPr>
        <p:spPr>
          <a:xfrm>
            <a:off x="548640" y="5760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do this: </a:t>
            </a:r>
            <a:r>
              <a:rPr lang="en-US" sz="1500" b="1" dirty="0">
                <a:solidFill>
                  <a:srgbClr val="C26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</a:t>
            </a: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and  </a:t>
            </a:r>
            <a:r>
              <a:rPr lang="en-US" sz="1500" b="1" dirty="0">
                <a:solidFill>
                  <a:srgbClr val="5C4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for_each</a:t>
            </a: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This deck covers both.</a:t>
            </a:r>
            <a:endParaRPr lang="en-US" sz="1500" dirty="0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1F97F540-BD17-080C-2149-46FFA8581A0D}"/>
              </a:ext>
            </a:extLst>
          </p:cNvPr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66375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498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D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Stop Copy-Pasting Blocks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1E1F3D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6C4C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12" dirty="0"/>
          </a:p>
        </p:txBody>
      </p:sp>
      <p:sp>
        <p:nvSpPr>
          <p:cNvPr id="7" name="Text 5"/>
          <p:cNvSpPr/>
          <p:nvPr/>
        </p:nvSpPr>
        <p:spPr>
          <a:xfrm>
            <a:off x="1600200" y="19933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D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for_each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404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a map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stay stable and human-readable ("logs", "backups")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each.key / each.value inside the block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instances differ by more than just a number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1E1F3D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446520" y="2011680"/>
            <a:ext cx="566928" cy="566928"/>
          </a:xfrm>
          <a:prstGeom prst="ellipse">
            <a:avLst/>
          </a:prstGeom>
          <a:solidFill>
            <a:srgbClr val="4DD0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46520" y="2011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0F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12" dirty="0"/>
          </a:p>
        </p:txBody>
      </p:sp>
      <p:sp>
        <p:nvSpPr>
          <p:cNvPr id="13" name="Text 11"/>
          <p:cNvSpPr/>
          <p:nvPr/>
        </p:nvSpPr>
        <p:spPr>
          <a:xfrm>
            <a:off x="7178040" y="19933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D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178040" y="2404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N times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92608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addressed positionally: [0], [1], [2]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count.index is the only per-instance value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"how many" is the only thing that varies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 ·  FOR_EACH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for_each</a:t>
            </a: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“make one for each named item”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4820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5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copy-pasted blocks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5186680"/>
            <a:ext cx="5486400" cy="530352"/>
          </a:xfrm>
          <a:prstGeom prst="roundRect">
            <a:avLst>
              <a:gd name="adj" fmla="val 20690"/>
            </a:avLst>
          </a:prstGeom>
          <a:solidFill>
            <a:srgbClr val="23244A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5186680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aws_s3_bucket "logs"    { ... 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5845048"/>
            <a:ext cx="5486400" cy="530352"/>
          </a:xfrm>
          <a:prstGeom prst="roundRect">
            <a:avLst>
              <a:gd name="adj" fmla="val 20690"/>
            </a:avLst>
          </a:prstGeom>
          <a:solidFill>
            <a:srgbClr val="23244A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" y="5845048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aws_s3_bucket "backups" { ... 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5552440"/>
            <a:ext cx="594360" cy="457200"/>
          </a:xfrm>
          <a:prstGeom prst="rightArrow">
            <a:avLst/>
          </a:prstGeom>
          <a:solidFill>
            <a:srgbClr val="6C4C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086600" y="4820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one for_each block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86600" y="5186680"/>
            <a:ext cx="4480560" cy="1508760"/>
          </a:xfrm>
          <a:prstGeom prst="roundRect">
            <a:avLst>
              <a:gd name="adj" fmla="val 7273"/>
            </a:avLst>
          </a:prstGeom>
          <a:solidFill>
            <a:srgbClr val="1E1F3D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15200" y="532384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</a:t>
            </a:r>
            <a:r>
              <a:rPr lang="en-US" sz="1300" dirty="0">
                <a:solidFill>
                  <a:srgbClr val="ED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"aws_s3_bucket" "app" {
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for_each = var.bucket_purposes
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1360F47A-210A-382A-D897-7F5035615383}"/>
              </a:ext>
            </a:extLst>
          </p:cNvPr>
          <p:cNvSpPr/>
          <p:nvPr/>
        </p:nvSpPr>
        <p:spPr>
          <a:xfrm>
            <a:off x="548640" y="1417320"/>
            <a:ext cx="114574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for_each</a:t>
            </a: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tells Terraform to create one resource per entry in a collection — and to remember each one </a:t>
            </a:r>
            <a:r>
              <a:rPr lang="en-US" sz="160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name</a:t>
            </a: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position.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B7296D7F-873B-C021-4393-E904B97CA431}"/>
              </a:ext>
            </a:extLst>
          </p:cNvPr>
          <p:cNvSpPr/>
          <p:nvPr/>
        </p:nvSpPr>
        <p:spPr>
          <a:xfrm>
            <a:off x="548640" y="2926080"/>
            <a:ext cx="6309360" cy="1234440"/>
          </a:xfrm>
          <a:prstGeom prst="roundRect">
            <a:avLst>
              <a:gd name="adj" fmla="val 7407"/>
            </a:avLst>
          </a:prstGeom>
          <a:solidFill>
            <a:srgbClr val="E8F6EF"/>
          </a:solidFill>
          <a:ln w="12700">
            <a:solidFill>
              <a:srgbClr val="BFE3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4B99B0CB-33E1-6D3C-C2AE-2FE75BE4D238}"/>
              </a:ext>
            </a:extLst>
          </p:cNvPr>
          <p:cNvSpPr/>
          <p:nvPr/>
        </p:nvSpPr>
        <p:spPr>
          <a:xfrm>
            <a:off x="777240" y="303580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types (only 2):</a:t>
            </a:r>
            <a:endParaRPr lang="en-US" sz="14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32D619FB-E735-7167-AE85-9C918E5D7857}"/>
              </a:ext>
            </a:extLst>
          </p:cNvPr>
          <p:cNvSpPr/>
          <p:nvPr/>
        </p:nvSpPr>
        <p:spPr>
          <a:xfrm>
            <a:off x="868680" y="336499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map</a:t>
            </a: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keys become each.key, values become each.value</a:t>
            </a:r>
            <a:endParaRPr lang="en-US" sz="125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B4E29380-7A4D-0931-444E-80BE37EE492F}"/>
              </a:ext>
            </a:extLst>
          </p:cNvPr>
          <p:cNvSpPr/>
          <p:nvPr/>
        </p:nvSpPr>
        <p:spPr>
          <a:xfrm>
            <a:off x="868680" y="371246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set(string)</a:t>
            </a: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each string is both key and value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 ·  FOR_EACH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D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for_each Over a Map — the One Pattern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46520" cy="4617720"/>
          </a:xfrm>
          <a:prstGeom prst="roundRect">
            <a:avLst>
              <a:gd name="adj" fmla="val 2376"/>
            </a:avLst>
          </a:prstGeom>
          <a:solidFill>
            <a:srgbClr val="101122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446520" cy="310896"/>
          </a:xfrm>
          <a:prstGeom prst="roundRect">
            <a:avLst>
              <a:gd name="adj" fmla="val 35294"/>
            </a:avLst>
          </a:prstGeom>
          <a:solidFill>
            <a:srgbClr val="1B1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892808"/>
            <a:ext cx="6446520" cy="109728"/>
          </a:xfrm>
          <a:prstGeom prst="rect">
            <a:avLst/>
          </a:prstGeom>
          <a:solidFill>
            <a:srgbClr val="1B1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5800" y="1801368"/>
            <a:ext cx="91440" cy="91440"/>
          </a:xfrm>
          <a:prstGeom prst="ellipse">
            <a:avLst/>
          </a:prstGeom>
          <a:solidFill>
            <a:srgbClr val="E564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86968" y="1801368"/>
            <a:ext cx="91440" cy="91440"/>
          </a:xfrm>
          <a:prstGeom prst="ellipse">
            <a:avLst/>
          </a:prstGeom>
          <a:solidFill>
            <a:srgbClr val="F2B8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" y="1801368"/>
            <a:ext cx="91440" cy="91440"/>
          </a:xfrm>
          <a:prstGeom prst="ellipse">
            <a:avLst/>
          </a:prstGeom>
          <a:solidFill>
            <a:srgbClr val="6FCF9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2093976"/>
            <a:ext cx="5989320" cy="4123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</a:t>
            </a: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"bucket_purposes" 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   = </a:t>
            </a:r>
            <a:r>
              <a:rPr lang="en-US" sz="1250" dirty="0">
                <a:solidFill>
                  <a:srgbClr val="F2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map(string)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= 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logs    = </a:t>
            </a:r>
            <a:r>
              <a:rPr lang="en-US" sz="1250" dirty="0">
                <a:solidFill>
                  <a:srgbClr val="F2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"log-retention"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backups = </a:t>
            </a:r>
            <a:r>
              <a:rPr lang="en-US" sz="1250" dirty="0">
                <a:solidFill>
                  <a:srgbClr val="F2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"disaster-recovery"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</a:t>
            </a: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"aws_s3_bucket" "app" 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E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for_each = var.bucket_purposes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 = </a:t>
            </a:r>
            <a:r>
              <a:rPr lang="en-US" sz="1250" dirty="0">
                <a:solidFill>
                  <a:srgbClr val="F2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"myapp-${each.key}-${random_id.suffix.hex}"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  = { Purpose = each.value 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69480" y="1691640"/>
            <a:ext cx="4370832" cy="914400"/>
          </a:xfrm>
          <a:prstGeom prst="roundRect">
            <a:avLst>
              <a:gd name="adj" fmla="val 12000"/>
            </a:avLst>
          </a:prstGeom>
          <a:solidFill>
            <a:srgbClr val="1E1F3D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498080" y="1783080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for_each = var...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0" y="2121408"/>
            <a:ext cx="39136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once per map entry.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69480" y="2770632"/>
            <a:ext cx="4370832" cy="914400"/>
          </a:xfrm>
          <a:prstGeom prst="roundRect">
            <a:avLst>
              <a:gd name="adj" fmla="val 12000"/>
            </a:avLst>
          </a:prstGeom>
          <a:solidFill>
            <a:srgbClr val="1E1F3D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498080" y="2862072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each.key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98080" y="3200400"/>
            <a:ext cx="39136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entry's key — "logs", then "backups".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69480" y="3849624"/>
            <a:ext cx="4370832" cy="914400"/>
          </a:xfrm>
          <a:prstGeom prst="roundRect">
            <a:avLst>
              <a:gd name="adj" fmla="val 12000"/>
            </a:avLst>
          </a:prstGeom>
          <a:solidFill>
            <a:srgbClr val="1E1F3D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498080" y="3941064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each.value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0" y="4279392"/>
            <a:ext cx="39136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entry's value — the matching string.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69480" y="4928616"/>
            <a:ext cx="4370832" cy="1417320"/>
          </a:xfrm>
          <a:prstGeom prst="roundRect">
            <a:avLst>
              <a:gd name="adj" fmla="val 7742"/>
            </a:avLst>
          </a:prstGeom>
          <a:solidFill>
            <a:srgbClr val="23244A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498080" y="5038344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 addressable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98080" y="5340096"/>
            <a:ext cx="3913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aws_s3_bucket.app["logs"]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aws_s3_bucket.app["backups"]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98080" y="5916168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unlike count's numeric [0]/[1] (next up)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 ·  FOR_EACH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D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Referencing Every Instance at Once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943600" cy="1920240"/>
          </a:xfrm>
          <a:prstGeom prst="roundRect">
            <a:avLst>
              <a:gd name="adj" fmla="val 5714"/>
            </a:avLst>
          </a:prstGeom>
          <a:solidFill>
            <a:srgbClr val="101122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943600" cy="310896"/>
          </a:xfrm>
          <a:prstGeom prst="roundRect">
            <a:avLst>
              <a:gd name="adj" fmla="val 35294"/>
            </a:avLst>
          </a:prstGeom>
          <a:solidFill>
            <a:srgbClr val="1B1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5943600" cy="109728"/>
          </a:xfrm>
          <a:prstGeom prst="rect">
            <a:avLst/>
          </a:prstGeom>
          <a:solidFill>
            <a:srgbClr val="1B1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5800" y="1847088"/>
            <a:ext cx="91440" cy="91440"/>
          </a:xfrm>
          <a:prstGeom prst="ellipse">
            <a:avLst/>
          </a:prstGeom>
          <a:solidFill>
            <a:srgbClr val="E564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86968" y="1847088"/>
            <a:ext cx="91440" cy="91440"/>
          </a:xfrm>
          <a:prstGeom prst="ellipse">
            <a:avLst/>
          </a:prstGeom>
          <a:solidFill>
            <a:srgbClr val="F2B8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" y="1847088"/>
            <a:ext cx="91440" cy="91440"/>
          </a:xfrm>
          <a:prstGeom prst="ellipse">
            <a:avLst/>
          </a:prstGeom>
          <a:solidFill>
            <a:srgbClr val="6FCF9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71600" y="173736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outputs.tf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2139696"/>
            <a:ext cx="548640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</a:t>
            </a: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"bucket_names" 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D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{ for purpose, b in aws_s3_bucket.app :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2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purpose =&gt; b.bucket 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943600" cy="2423160"/>
          </a:xfrm>
          <a:prstGeom prst="roundRect">
            <a:avLst>
              <a:gd name="adj" fmla="val 4528"/>
            </a:avLst>
          </a:prstGeom>
          <a:solidFill>
            <a:srgbClr val="1E1F3D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68680" y="4114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C8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aws_s3_bucket.app (with for_each) is a map of objects, one per key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 expression like this turns it into a plain map or list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an output, or for another resource to consume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0" y="1737360"/>
            <a:ext cx="4754880" cy="4572000"/>
          </a:xfrm>
          <a:prstGeom prst="roundRect">
            <a:avLst>
              <a:gd name="adj" fmla="val 2400"/>
            </a:avLst>
          </a:prstGeom>
          <a:solidFill>
            <a:srgbClr val="23244A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178040" y="1965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OF OBJECTS  →  PLAIN MAP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78040" y="242316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1E1F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60920" y="24231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app["logs"]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89720" y="2670048"/>
            <a:ext cx="320040" cy="182880"/>
          </a:xfrm>
          <a:prstGeom prst="rightArrow">
            <a:avLst/>
          </a:prstGeom>
          <a:solidFill>
            <a:srgbClr val="6C4C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601200" y="24231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myapp-logs-8f2a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78040" y="329184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1E1F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360920" y="32918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app["backups"]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89720" y="3538728"/>
            <a:ext cx="320040" cy="182880"/>
          </a:xfrm>
          <a:prstGeom prst="rightArrow">
            <a:avLst/>
          </a:prstGeom>
          <a:solidFill>
            <a:srgbClr val="6C4C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601200" y="32918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myapp-backups-8f2a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78040" y="4251960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D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bucket_names = {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D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logs    = "myapp-logs-8f2a"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D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backups = "myapp-backups-8f2a"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D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 ·  COUNT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D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 Form of count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035040" cy="2331720"/>
          </a:xfrm>
          <a:prstGeom prst="roundRect">
            <a:avLst>
              <a:gd name="adj" fmla="val 4706"/>
            </a:avLst>
          </a:prstGeom>
          <a:solidFill>
            <a:srgbClr val="101122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035040" cy="310896"/>
          </a:xfrm>
          <a:prstGeom prst="roundRect">
            <a:avLst>
              <a:gd name="adj" fmla="val 35294"/>
            </a:avLst>
          </a:prstGeom>
          <a:solidFill>
            <a:srgbClr val="1B1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6035040" cy="109728"/>
          </a:xfrm>
          <a:prstGeom prst="rect">
            <a:avLst/>
          </a:prstGeom>
          <a:solidFill>
            <a:srgbClr val="1B1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5800" y="1847088"/>
            <a:ext cx="91440" cy="91440"/>
          </a:xfrm>
          <a:prstGeom prst="ellipse">
            <a:avLst/>
          </a:prstGeom>
          <a:solidFill>
            <a:srgbClr val="E564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86968" y="1847088"/>
            <a:ext cx="91440" cy="91440"/>
          </a:xfrm>
          <a:prstGeom prst="ellipse">
            <a:avLst/>
          </a:prstGeom>
          <a:solidFill>
            <a:srgbClr val="F2B8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" y="1847088"/>
            <a:ext cx="91440" cy="91440"/>
          </a:xfrm>
          <a:prstGeom prst="ellipse">
            <a:avLst/>
          </a:prstGeom>
          <a:solidFill>
            <a:srgbClr val="6FCF9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71600" y="173736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2139696"/>
            <a:ext cx="5577840" cy="1837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</a:t>
            </a: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"aws_s3_bucket" "fleet" 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E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  = 3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 = </a:t>
            </a:r>
            <a:r>
              <a:rPr lang="en-US" sz="1250" dirty="0">
                <a:solidFill>
                  <a:srgbClr val="F2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"myapp-fleet-${count.index}-${random_id.suffix.hex}"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  = { Name = "fleet-${count.index}" 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6035040" cy="2057400"/>
          </a:xfrm>
          <a:prstGeom prst="roundRect">
            <a:avLst>
              <a:gd name="adj" fmla="val 5333"/>
            </a:avLst>
          </a:prstGeom>
          <a:solidFill>
            <a:srgbClr val="1E1F3D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68680" y="44348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C8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“Create 3 copies of this bucket.”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498348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= 3 creates three instances of this resource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count.index (0, 1, 2) is the only per-instance differentiator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0" y="1737360"/>
            <a:ext cx="4754880" cy="4572000"/>
          </a:xfrm>
          <a:prstGeom prst="roundRect">
            <a:avLst>
              <a:gd name="adj" fmla="val 2400"/>
            </a:avLst>
          </a:prstGeom>
          <a:solidFill>
            <a:srgbClr val="23244A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178040" y="1965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ADDRESSING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78040" y="242316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1E1F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406640" y="24231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aws_s3_bucket.fleet[0]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78040" y="315468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1E1F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406640" y="31546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aws_s3_bucket.fleet[1]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78040" y="388620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1E1F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406640" y="38862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aws_s3_bucket.fleet[2]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47548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number — unlike for_each's string keys such as ["logs"].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DC35D9-D869-4FD4-3B54-62CD30BD0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947862"/>
            <a:ext cx="11430000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961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 ·  COUNT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D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Driven by a Variable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035040" cy="2651760"/>
          </a:xfrm>
          <a:prstGeom prst="roundRect">
            <a:avLst>
              <a:gd name="adj" fmla="val 4138"/>
            </a:avLst>
          </a:prstGeom>
          <a:solidFill>
            <a:srgbClr val="101122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035040" cy="310896"/>
          </a:xfrm>
          <a:prstGeom prst="roundRect">
            <a:avLst>
              <a:gd name="adj" fmla="val 35294"/>
            </a:avLst>
          </a:prstGeom>
          <a:solidFill>
            <a:srgbClr val="1B1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6035040" cy="109728"/>
          </a:xfrm>
          <a:prstGeom prst="rect">
            <a:avLst/>
          </a:prstGeom>
          <a:solidFill>
            <a:srgbClr val="1B1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5800" y="1847088"/>
            <a:ext cx="91440" cy="91440"/>
          </a:xfrm>
          <a:prstGeom prst="ellipse">
            <a:avLst/>
          </a:prstGeom>
          <a:solidFill>
            <a:srgbClr val="E564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86968" y="1847088"/>
            <a:ext cx="91440" cy="91440"/>
          </a:xfrm>
          <a:prstGeom prst="ellipse">
            <a:avLst/>
          </a:prstGeom>
          <a:solidFill>
            <a:srgbClr val="F2B8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" y="1847088"/>
            <a:ext cx="91440" cy="91440"/>
          </a:xfrm>
          <a:prstGeom prst="ellipse">
            <a:avLst/>
          </a:prstGeom>
          <a:solidFill>
            <a:srgbClr val="6FCF9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71600" y="173736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variables.tf + main.tf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2139696"/>
            <a:ext cx="5577840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</a:t>
            </a: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"fleet_size" 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   = </a:t>
            </a:r>
            <a:r>
              <a:rPr lang="en-US" sz="1250" dirty="0">
                <a:solidFill>
                  <a:srgbClr val="F2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= 2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</a:t>
            </a: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"aws_s3_bucket" "fleet" 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E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  = var.fleet_size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 = </a:t>
            </a:r>
            <a:r>
              <a:rPr lang="en-US" sz="1250" dirty="0">
                <a:solidFill>
                  <a:srgbClr val="F2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"myapp-fleet-${count.index}-..."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78040" y="2057400"/>
            <a:ext cx="548640" cy="548640"/>
          </a:xfrm>
          <a:prstGeom prst="ellipse">
            <a:avLst/>
          </a:prstGeom>
          <a:solidFill>
            <a:srgbClr val="F2B8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1780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7909560" y="20574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 — 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78040" y="278892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use this exact same pattern to size a fleet of EC2 instances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178040" y="4114800"/>
            <a:ext cx="4206240" cy="0"/>
          </a:xfrm>
          <a:prstGeom prst="line">
            <a:avLst/>
          </a:prstGeom>
          <a:noFill/>
          <a:ln w="12700">
            <a:solidFill>
              <a:srgbClr val="3536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78040" y="429768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variable → count pattern, new resource type.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D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vs. for_each — Precisely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23244A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926080" y="169164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69480" y="169164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for_each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1E1F3D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9C8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0" y="224028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43800" y="224028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or a set of strings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1A1B3A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240" y="30175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9C8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address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00400" y="301752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Positional: [0], [1]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43800" y="301752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Keyed: ["logs"], ["dev"]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1E1F3D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37947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9C8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 middle item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00400" y="379476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every later index — Terraform destroys &amp; recreates from that point 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43800" y="379476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removed key's instance is affected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A1B3A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240" y="457200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9C8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00400" y="457200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resources — “how many” is the only variable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43800" y="457200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that differ by a stable, meaningful key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 ·  COUNT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D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Referencing Every Instance: Splat Expressions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943600" cy="1508760"/>
          </a:xfrm>
          <a:prstGeom prst="roundRect">
            <a:avLst>
              <a:gd name="adj" fmla="val 7273"/>
            </a:avLst>
          </a:prstGeom>
          <a:solidFill>
            <a:srgbClr val="101122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943600" cy="310896"/>
          </a:xfrm>
          <a:prstGeom prst="roundRect">
            <a:avLst>
              <a:gd name="adj" fmla="val 35294"/>
            </a:avLst>
          </a:prstGeom>
          <a:solidFill>
            <a:srgbClr val="1B1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5943600" cy="109728"/>
          </a:xfrm>
          <a:prstGeom prst="rect">
            <a:avLst/>
          </a:prstGeom>
          <a:solidFill>
            <a:srgbClr val="1B1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5800" y="1847088"/>
            <a:ext cx="91440" cy="91440"/>
          </a:xfrm>
          <a:prstGeom prst="ellipse">
            <a:avLst/>
          </a:prstGeom>
          <a:solidFill>
            <a:srgbClr val="E564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86968" y="1847088"/>
            <a:ext cx="91440" cy="91440"/>
          </a:xfrm>
          <a:prstGeom prst="ellipse">
            <a:avLst/>
          </a:prstGeom>
          <a:solidFill>
            <a:srgbClr val="F2B8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" y="1847088"/>
            <a:ext cx="91440" cy="91440"/>
          </a:xfrm>
          <a:prstGeom prst="ellipse">
            <a:avLst/>
          </a:prstGeom>
          <a:solidFill>
            <a:srgbClr val="6FCF9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71600" y="173736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outputs.tf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2139696"/>
            <a:ext cx="5486400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</a:t>
            </a: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"fleet_bucket_names" 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2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aws_s3_bucket.fleet[*].bucket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943600" cy="1290320"/>
          </a:xfrm>
          <a:prstGeom prst="roundRect">
            <a:avLst>
              <a:gd name="adj" fmla="val 3750"/>
            </a:avLst>
          </a:prstGeom>
          <a:solidFill>
            <a:srgbClr val="1E1F3D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68680" y="3566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C8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[*] — the splat expression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39776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D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the bucket attribute from every instance into a single list.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8000" y="1737360"/>
            <a:ext cx="4754880" cy="4572000"/>
          </a:xfrm>
          <a:prstGeom prst="roundRect">
            <a:avLst>
              <a:gd name="adj" fmla="val 2400"/>
            </a:avLst>
          </a:prstGeom>
          <a:solidFill>
            <a:srgbClr val="23244A"/>
          </a:solidFill>
          <a:ln w="9525">
            <a:solidFill>
              <a:srgbClr val="2E2F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17804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fleet[0].bucket   fleet[1].bucket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06840" y="2423160"/>
            <a:ext cx="365760" cy="457200"/>
          </a:xfrm>
          <a:prstGeom prst="downArrow">
            <a:avLst/>
          </a:prstGeom>
          <a:solidFill>
            <a:srgbClr val="6C4C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178040" y="301752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1011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D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
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2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"myapp-fleet-0-8f2a",
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2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"myapp-fleet-1-8f2a",
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D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521208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flat list, ordered by index.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969B88-2CC1-815A-B5C9-E933B042083D}"/>
              </a:ext>
            </a:extLst>
          </p:cNvPr>
          <p:cNvSpPr txBox="1"/>
          <p:nvPr/>
        </p:nvSpPr>
        <p:spPr>
          <a:xfrm>
            <a:off x="1229360" y="223520"/>
            <a:ext cx="9530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Real Life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1AF485-FE0E-237E-91C5-B540F948DF89}"/>
              </a:ext>
            </a:extLst>
          </p:cNvPr>
          <p:cNvSpPr txBox="1"/>
          <p:nvPr/>
        </p:nvSpPr>
        <p:spPr>
          <a:xfrm>
            <a:off x="400049" y="812919"/>
            <a:ext cx="9020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Imagine you're running an e-commerce application</a:t>
            </a:r>
            <a:br>
              <a:rPr lang="en-IN" b="1" dirty="0"/>
            </a:br>
            <a:r>
              <a:rPr lang="en-IN" dirty="0"/>
              <a:t>You have three EC2 instances:</a:t>
            </a:r>
            <a:endParaRPr lang="en-IN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65CE1B-951D-C3F6-11CA-D2E317677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761456"/>
              </p:ext>
            </p:extLst>
          </p:nvPr>
        </p:nvGraphicFramePr>
        <p:xfrm>
          <a:off x="400049" y="1459250"/>
          <a:ext cx="10515600" cy="146304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697312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807833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79298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Terraform 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Server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5794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server[0]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Serves website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161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server[1]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Runs APIs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504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server[2]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Stores customer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491135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404566B-A877-6AF1-60BD-8181DB14294A}"/>
              </a:ext>
            </a:extLst>
          </p:cNvPr>
          <p:cNvSpPr txBox="1"/>
          <p:nvPr/>
        </p:nvSpPr>
        <p:spPr>
          <a:xfrm>
            <a:off x="871537" y="3613666"/>
            <a:ext cx="17240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servers = [</a:t>
            </a:r>
          </a:p>
          <a:p>
            <a:r>
              <a:rPr lang="en-IN" dirty="0"/>
              <a:t>  "frontend",</a:t>
            </a:r>
          </a:p>
          <a:p>
            <a:r>
              <a:rPr lang="en-IN" dirty="0"/>
              <a:t>  "backend",</a:t>
            </a:r>
          </a:p>
          <a:p>
            <a:r>
              <a:rPr lang="en-IN" dirty="0"/>
              <a:t>  "database"</a:t>
            </a:r>
          </a:p>
          <a:p>
            <a:r>
              <a:rPr lang="en-IN" dirty="0"/>
              <a:t>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D62DEB-3006-A5FE-923B-4D2DB3597B51}"/>
              </a:ext>
            </a:extLst>
          </p:cNvPr>
          <p:cNvSpPr txBox="1"/>
          <p:nvPr/>
        </p:nvSpPr>
        <p:spPr>
          <a:xfrm>
            <a:off x="871537" y="3244334"/>
            <a:ext cx="1514475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Using </a:t>
            </a:r>
            <a:r>
              <a:rPr lang="en-IN" dirty="0">
                <a:latin typeface="Courier New" panose="02070309020205020404" pitchFamily="49" charset="0"/>
              </a:rPr>
              <a:t>count</a:t>
            </a:r>
            <a:r>
              <a:rPr lang="en-IN" dirty="0"/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4B6DD4-4DB6-270E-C088-2ED457338642}"/>
              </a:ext>
            </a:extLst>
          </p:cNvPr>
          <p:cNvSpPr txBox="1"/>
          <p:nvPr/>
        </p:nvSpPr>
        <p:spPr>
          <a:xfrm>
            <a:off x="8567737" y="3381713"/>
            <a:ext cx="1704975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Terraform state: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524C4E-09A2-C76C-645F-9A3FEE26E3AE}"/>
              </a:ext>
            </a:extLst>
          </p:cNvPr>
          <p:cNvSpPr txBox="1"/>
          <p:nvPr/>
        </p:nvSpPr>
        <p:spPr>
          <a:xfrm>
            <a:off x="8415337" y="3751045"/>
            <a:ext cx="24669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server[0] -&gt; frontend</a:t>
            </a:r>
          </a:p>
          <a:p>
            <a:r>
              <a:rPr lang="en-IN" dirty="0"/>
              <a:t>server[1] -&gt; backend</a:t>
            </a:r>
          </a:p>
          <a:p>
            <a:r>
              <a:rPr lang="en-IN" dirty="0"/>
              <a:t>server[2] -&gt; database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FC633E-55B6-A493-B322-C429FD3308BE}"/>
              </a:ext>
            </a:extLst>
          </p:cNvPr>
          <p:cNvSpPr txBox="1"/>
          <p:nvPr/>
        </p:nvSpPr>
        <p:spPr>
          <a:xfrm>
            <a:off x="1628774" y="4856799"/>
            <a:ext cx="81026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Now the backend is no longer needed : You remove "backend" from the list: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94EA74-3864-51C1-9F8F-3C21E5EFAA98}"/>
              </a:ext>
            </a:extLst>
          </p:cNvPr>
          <p:cNvSpPr txBox="1"/>
          <p:nvPr/>
        </p:nvSpPr>
        <p:spPr>
          <a:xfrm>
            <a:off x="242887" y="5524225"/>
            <a:ext cx="15716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servers = [</a:t>
            </a:r>
          </a:p>
          <a:p>
            <a:r>
              <a:rPr lang="en-IN" dirty="0"/>
              <a:t>  "frontend",</a:t>
            </a:r>
          </a:p>
          <a:p>
            <a:r>
              <a:rPr lang="en-IN" dirty="0"/>
              <a:t>  "database"</a:t>
            </a:r>
          </a:p>
          <a:p>
            <a:r>
              <a:rPr lang="en-IN" dirty="0"/>
              <a:t>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0717E2-B723-A487-BC72-A2FCCF9AFF29}"/>
              </a:ext>
            </a:extLst>
          </p:cNvPr>
          <p:cNvSpPr txBox="1"/>
          <p:nvPr/>
        </p:nvSpPr>
        <p:spPr>
          <a:xfrm>
            <a:off x="2609849" y="5545934"/>
            <a:ext cx="24003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Terraform now expects:</a:t>
            </a:r>
            <a:br>
              <a:rPr lang="en-IN" dirty="0"/>
            </a:br>
            <a:r>
              <a:rPr lang="en-IN" dirty="0"/>
              <a:t>server[0] -&gt; frontend</a:t>
            </a:r>
          </a:p>
          <a:p>
            <a:r>
              <a:rPr lang="en-IN" dirty="0"/>
              <a:t>server[1] -&gt; database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E16E50-31BE-4A08-59BD-4E2E1C05CA27}"/>
              </a:ext>
            </a:extLst>
          </p:cNvPr>
          <p:cNvSpPr txBox="1"/>
          <p:nvPr/>
        </p:nvSpPr>
        <p:spPr>
          <a:xfrm>
            <a:off x="7043737" y="5545934"/>
            <a:ext cx="3048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Notice what happened:</a:t>
            </a:r>
            <a:br>
              <a:rPr lang="en-IN" dirty="0"/>
            </a:br>
            <a:r>
              <a:rPr lang="en-US" dirty="0"/>
              <a:t>Old server[1] = backend</a:t>
            </a:r>
          </a:p>
          <a:p>
            <a:r>
              <a:rPr lang="en-US" dirty="0"/>
              <a:t>New server[1] = database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4869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099186-D44C-C27F-3CBB-30A8C66EDC81}"/>
              </a:ext>
            </a:extLst>
          </p:cNvPr>
          <p:cNvSpPr txBox="1"/>
          <p:nvPr/>
        </p:nvSpPr>
        <p:spPr>
          <a:xfrm>
            <a:off x="590550" y="21169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Terraform cannot simply rename the instance. It sees:</a:t>
            </a:r>
            <a:br>
              <a:rPr lang="en-IN" dirty="0"/>
            </a:br>
            <a:r>
              <a:rPr lang="en-IN" dirty="0"/>
              <a:t>"The resource at index 1 changed from backend to database." "The old database at index 2 no longer exists."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D92F32-6FF8-4FF5-550C-ED2B4118EF73}"/>
              </a:ext>
            </a:extLst>
          </p:cNvPr>
          <p:cNvSpPr txBox="1"/>
          <p:nvPr/>
        </p:nvSpPr>
        <p:spPr>
          <a:xfrm>
            <a:off x="4657725" y="1406009"/>
            <a:ext cx="1838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So it plans: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E63A11-353F-6A3F-A760-BA3CFE3EA714}"/>
              </a:ext>
            </a:extLst>
          </p:cNvPr>
          <p:cNvSpPr txBox="1"/>
          <p:nvPr/>
        </p:nvSpPr>
        <p:spPr>
          <a:xfrm>
            <a:off x="4010025" y="1789926"/>
            <a:ext cx="2981325" cy="9233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Destroy backend</a:t>
            </a:r>
          </a:p>
          <a:p>
            <a:r>
              <a:rPr lang="en-IN" dirty="0"/>
              <a:t>Destroy database</a:t>
            </a:r>
          </a:p>
          <a:p>
            <a:r>
              <a:rPr lang="en-IN" dirty="0"/>
              <a:t>Create new database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4E4E6A-168F-23CD-48C8-B068CA7BAD27}"/>
              </a:ext>
            </a:extLst>
          </p:cNvPr>
          <p:cNvSpPr txBox="1"/>
          <p:nvPr/>
        </p:nvSpPr>
        <p:spPr>
          <a:xfrm>
            <a:off x="819150" y="3267582"/>
            <a:ext cx="34671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The real-life problem</a:t>
            </a:r>
          </a:p>
          <a:p>
            <a:pPr>
              <a:buNone/>
            </a:pPr>
            <a:r>
              <a:rPr lang="en-IN" dirty="0"/>
              <a:t>Suppose the database server has: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2 TB of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Static private IP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Monitoring agents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DNS records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5D135F-ED0C-9084-BF24-DE0BFC50D5E6}"/>
              </a:ext>
            </a:extLst>
          </p:cNvPr>
          <p:cNvSpPr txBox="1"/>
          <p:nvPr/>
        </p:nvSpPr>
        <p:spPr>
          <a:xfrm>
            <a:off x="5276850" y="389066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downtime, new instance IDs, new private IPs (unless you've engineered around this), reconfiguration, interruption of services.</a:t>
            </a:r>
          </a:p>
        </p:txBody>
      </p:sp>
    </p:spTree>
    <p:extLst>
      <p:ext uri="{BB962C8B-B14F-4D97-AF65-F5344CB8AC3E}">
        <p14:creationId xmlns:p14="http://schemas.microsoft.com/office/powerpoint/2010/main" val="785485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372621-8898-A662-EE68-E77FBC9795AC}"/>
              </a:ext>
            </a:extLst>
          </p:cNvPr>
          <p:cNvSpPr txBox="1"/>
          <p:nvPr/>
        </p:nvSpPr>
        <p:spPr>
          <a:xfrm>
            <a:off x="3048000" y="544890"/>
            <a:ext cx="4124325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Why </a:t>
            </a:r>
            <a:r>
              <a:rPr lang="en-IN" sz="2400" b="1" dirty="0" err="1"/>
              <a:t>for_each</a:t>
            </a:r>
            <a:r>
              <a:rPr lang="en-IN" sz="2400" b="1" dirty="0"/>
              <a:t> avoids this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With </a:t>
            </a:r>
            <a:r>
              <a:rPr lang="en-IN" dirty="0" err="1"/>
              <a:t>for_each</a:t>
            </a:r>
            <a:r>
              <a:rPr lang="en-IN" dirty="0"/>
              <a:t>:</a:t>
            </a:r>
          </a:p>
          <a:p>
            <a:pPr rtl="0">
              <a:buNone/>
            </a:pPr>
            <a:r>
              <a:rPr lang="en-IN" dirty="0"/>
              <a:t>server["web"]</a:t>
            </a:r>
          </a:p>
          <a:p>
            <a:pPr rtl="0">
              <a:buNone/>
            </a:pPr>
            <a:r>
              <a:rPr lang="en-IN" dirty="0"/>
              <a:t>server["payment"]</a:t>
            </a:r>
          </a:p>
          <a:p>
            <a:pPr rtl="0">
              <a:buNone/>
            </a:pPr>
            <a:r>
              <a:rPr lang="en-IN" dirty="0"/>
              <a:t>server["reporting"]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/>
              <a:t>Delete </a:t>
            </a:r>
            <a:r>
              <a:rPr lang="en-IN" dirty="0">
                <a:latin typeface="Courier New" panose="02070309020205020404" pitchFamily="49" charset="0"/>
              </a:rPr>
              <a:t>"payment"</a:t>
            </a:r>
            <a:r>
              <a:rPr lang="en-IN" dirty="0"/>
              <a:t>: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Terraform knows: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web       → same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payment   → delete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reporting → same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/>
              <a:t>Only the intended resource is affected.</a:t>
            </a:r>
          </a:p>
        </p:txBody>
      </p:sp>
    </p:spTree>
    <p:extLst>
      <p:ext uri="{BB962C8B-B14F-4D97-AF65-F5344CB8AC3E}">
        <p14:creationId xmlns:p14="http://schemas.microsoft.com/office/powerpoint/2010/main" val="1293231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C2E7E5-17DF-49BD-31F2-1850EC8651B2}"/>
              </a:ext>
            </a:extLst>
          </p:cNvPr>
          <p:cNvSpPr txBox="1"/>
          <p:nvPr/>
        </p:nvSpPr>
        <p:spPr>
          <a:xfrm>
            <a:off x="3581400" y="243959"/>
            <a:ext cx="6096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/>
              <a:t>When </a:t>
            </a:r>
            <a:r>
              <a:rPr lang="en-IN" b="1" dirty="0">
                <a:latin typeface="Courier New" panose="02070309020205020404" pitchFamily="49" charset="0"/>
              </a:rPr>
              <a:t>count</a:t>
            </a:r>
            <a:r>
              <a:rPr lang="en-IN" b="1" dirty="0"/>
              <a:t> is still fine:</a:t>
            </a:r>
            <a:r>
              <a:rPr lang="en-IN" dirty="0"/>
              <a:t> Auto Scaling-style web servers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A1C2D6-D027-B1E4-5798-D70286965EC1}"/>
              </a:ext>
            </a:extLst>
          </p:cNvPr>
          <p:cNvSpPr txBox="1"/>
          <p:nvPr/>
        </p:nvSpPr>
        <p:spPr>
          <a:xfrm>
            <a:off x="581024" y="828675"/>
            <a:ext cx="802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Suppose your website needs </a:t>
            </a:r>
            <a:r>
              <a:rPr lang="en-IN" b="1" dirty="0"/>
              <a:t>3 identical web servers</a:t>
            </a:r>
            <a:r>
              <a:rPr lang="en-IN" dirty="0"/>
              <a:t> behind a load balancer.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458952-E756-F3F7-EB0E-2E408934A83E}"/>
              </a:ext>
            </a:extLst>
          </p:cNvPr>
          <p:cNvSpPr txBox="1"/>
          <p:nvPr/>
        </p:nvSpPr>
        <p:spPr>
          <a:xfrm>
            <a:off x="4286250" y="1289388"/>
            <a:ext cx="36195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   Internet</a:t>
            </a:r>
          </a:p>
          <a:p>
            <a:r>
              <a:rPr lang="en-IN" dirty="0"/>
              <a:t>                │</a:t>
            </a:r>
          </a:p>
          <a:p>
            <a:r>
              <a:rPr lang="en-IN" dirty="0"/>
              <a:t>       Load Balancer</a:t>
            </a:r>
          </a:p>
          <a:p>
            <a:r>
              <a:rPr lang="en-IN" dirty="0"/>
              <a:t>                │</a:t>
            </a:r>
          </a:p>
          <a:p>
            <a:r>
              <a:rPr lang="en-IN" dirty="0"/>
              <a:t> ┌───------──--------┐</a:t>
            </a:r>
          </a:p>
          <a:p>
            <a:r>
              <a:rPr lang="en-IN" dirty="0"/>
              <a:t> │             │               │</a:t>
            </a:r>
          </a:p>
          <a:p>
            <a:r>
              <a:rPr lang="en-IN" dirty="0"/>
              <a:t>Web-1  Web-2  Web-3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164EC6-D08D-9989-800B-1168754B2A4A}"/>
              </a:ext>
            </a:extLst>
          </p:cNvPr>
          <p:cNvSpPr txBox="1"/>
          <p:nvPr/>
        </p:nvSpPr>
        <p:spPr>
          <a:xfrm>
            <a:off x="495300" y="3438525"/>
            <a:ext cx="45148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All three servers: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Run the same application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 the same AMI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Have the same configuration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Store no local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Can be replaced at any time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BB6705-3F98-E3A4-20CA-9300D2B8EC79}"/>
              </a:ext>
            </a:extLst>
          </p:cNvPr>
          <p:cNvSpPr txBox="1"/>
          <p:nvPr/>
        </p:nvSpPr>
        <p:spPr>
          <a:xfrm>
            <a:off x="7877175" y="2802642"/>
            <a:ext cx="3819525" cy="286232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IN"/>
              <a:t>variable "instance_count" {</a:t>
            </a:r>
          </a:p>
          <a:p>
            <a:r>
              <a:rPr lang="en-IN"/>
              <a:t>  default = 3</a:t>
            </a:r>
          </a:p>
          <a:p>
            <a:r>
              <a:rPr lang="en-IN"/>
              <a:t>}</a:t>
            </a:r>
          </a:p>
          <a:p>
            <a:endParaRPr lang="en-IN"/>
          </a:p>
          <a:p>
            <a:r>
              <a:rPr lang="en-IN"/>
              <a:t>resource "aws_instance" "web" {</a:t>
            </a:r>
          </a:p>
          <a:p>
            <a:r>
              <a:rPr lang="en-IN"/>
              <a:t>  count = var.instance_count</a:t>
            </a:r>
          </a:p>
          <a:p>
            <a:endParaRPr lang="en-IN"/>
          </a:p>
          <a:p>
            <a:r>
              <a:rPr lang="en-IN"/>
              <a:t>  ami           = "ami-12345"</a:t>
            </a:r>
          </a:p>
          <a:p>
            <a:r>
              <a:rPr lang="en-IN"/>
              <a:t>  instance_type = "t3.micro"</a:t>
            </a:r>
          </a:p>
          <a:p>
            <a:r>
              <a:rPr lang="en-IN"/>
              <a:t>}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078AAC-97D3-080E-EAD5-C3647E910F71}"/>
              </a:ext>
            </a:extLst>
          </p:cNvPr>
          <p:cNvSpPr txBox="1"/>
          <p:nvPr/>
        </p:nvSpPr>
        <p:spPr>
          <a:xfrm>
            <a:off x="161925" y="555754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Now suppose you reduce the count:</a:t>
            </a:r>
            <a:br>
              <a:rPr lang="en-IN" b="1" dirty="0"/>
            </a:br>
            <a:endParaRPr lang="en-IN" b="1" dirty="0"/>
          </a:p>
          <a:p>
            <a:r>
              <a:rPr lang="en-IN" dirty="0" err="1"/>
              <a:t>instance_count</a:t>
            </a:r>
            <a:r>
              <a:rPr lang="en-IN" dirty="0"/>
              <a:t> = 2</a:t>
            </a:r>
          </a:p>
        </p:txBody>
      </p:sp>
    </p:spTree>
    <p:extLst>
      <p:ext uri="{BB962C8B-B14F-4D97-AF65-F5344CB8AC3E}">
        <p14:creationId xmlns:p14="http://schemas.microsoft.com/office/powerpoint/2010/main" val="3086992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1701</TotalTime>
  <Words>1511</Words>
  <Application>Microsoft Office PowerPoint</Application>
  <PresentationFormat>Widescreen</PresentationFormat>
  <Paragraphs>270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Abhoy Kumar Mondal</cp:lastModifiedBy>
  <cp:revision>3</cp:revision>
  <dcterms:created xsi:type="dcterms:W3CDTF">2026-07-16T09:46:46Z</dcterms:created>
  <dcterms:modified xsi:type="dcterms:W3CDTF">2026-07-17T14:17:48Z</dcterms:modified>
</cp:coreProperties>
</file>