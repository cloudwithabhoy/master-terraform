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70464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01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Does Terraform Know What It Created?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Terraform State solves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39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CODE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5120640" cy="1051560"/>
          </a:xfrm>
          <a:prstGeom prst="roundRect">
            <a:avLst>
              <a:gd name="adj" fmla="val 5217"/>
            </a:avLst>
          </a:prstGeom>
          <a:solidFill>
            <a:srgbClr val="2A18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58368" y="1847088"/>
            <a:ext cx="471830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9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"aws_instance" "web" {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9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instance_type = "t3.micro"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9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1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creates a real resource in AWS: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29000"/>
            <a:ext cx="5120640" cy="640080"/>
          </a:xfrm>
          <a:prstGeom prst="roundRect">
            <a:avLst>
              <a:gd name="adj" fmla="val 8571"/>
            </a:avLst>
          </a:prstGeom>
          <a:solidFill>
            <a:srgbClr val="FBEED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57200" y="34290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E891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 EC2   •   ID: i-abc123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080760" y="1463040"/>
            <a:ext cx="562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80760" y="1755648"/>
            <a:ext cx="5623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41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Terraform remember which real resource belongs to this code?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080760" y="2423160"/>
            <a:ext cx="5623560" cy="594360"/>
          </a:xfrm>
          <a:prstGeom prst="roundRect">
            <a:avLst>
              <a:gd name="adj" fmla="val 9231"/>
            </a:avLst>
          </a:prstGeom>
          <a:solidFill>
            <a:srgbClr val="E4DB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080760" y="2423160"/>
            <a:ext cx="5623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01A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aws_instance.web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080760" y="3017520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C2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80760" y="3273552"/>
            <a:ext cx="5623560" cy="594360"/>
          </a:xfrm>
          <a:prstGeom prst="roundRect">
            <a:avLst>
              <a:gd name="adj" fmla="val 9231"/>
            </a:avLst>
          </a:prstGeom>
          <a:solidFill>
            <a:srgbClr val="FBEED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080760" y="3273552"/>
            <a:ext cx="5623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891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i-abc123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080760" y="4114800"/>
            <a:ext cx="562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39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80760" y="4407408"/>
            <a:ext cx="5623560" cy="685800"/>
          </a:xfrm>
          <a:prstGeom prst="roundRect">
            <a:avLst>
              <a:gd name="adj" fmla="val 8000"/>
            </a:avLst>
          </a:prstGeom>
          <a:solidFill>
            <a:srgbClr val="4C2A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080760" y="4407408"/>
            <a:ext cx="5623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👉  Terraform State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7200" y="5989320"/>
            <a:ext cx="11247120" cy="594360"/>
          </a:xfrm>
          <a:prstGeom prst="roundRect">
            <a:avLst>
              <a:gd name="adj" fmla="val 9231"/>
            </a:avLst>
          </a:prstGeom>
          <a:solidFill>
            <a:srgbClr val="E7F7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85800" y="598932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9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300" b="1" dirty="0">
                <a:solidFill>
                  <a:srgbClr val="1F9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State links your code to real infrastructure.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01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Terraform State?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mapping database between your code and the real world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4C2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AS A MAPPING DATABASE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97280" y="1828800"/>
            <a:ext cx="3840480" cy="502920"/>
          </a:xfrm>
          <a:prstGeom prst="roundRect">
            <a:avLst>
              <a:gd name="adj" fmla="val 10909"/>
            </a:avLst>
          </a:prstGeom>
          <a:solidFill>
            <a:srgbClr val="E4DB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097280" y="18288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01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Configuration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097280" y="233172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2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97280" y="2514600"/>
            <a:ext cx="3840480" cy="502920"/>
          </a:xfrm>
          <a:prstGeom prst="roundRect">
            <a:avLst>
              <a:gd name="adj" fmla="val 10909"/>
            </a:avLst>
          </a:prstGeom>
          <a:solidFill>
            <a:srgbClr val="F7F5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097280" y="25146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413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aws_instance.web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97280" y="301752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2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97280" y="3200400"/>
            <a:ext cx="3840480" cy="502920"/>
          </a:xfrm>
          <a:prstGeom prst="roundRect">
            <a:avLst>
              <a:gd name="adj" fmla="val 10909"/>
            </a:avLst>
          </a:prstGeom>
          <a:solidFill>
            <a:srgbClr val="4C2A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097280" y="32004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State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097280" y="370332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2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97280" y="3886200"/>
            <a:ext cx="3840480" cy="502920"/>
          </a:xfrm>
          <a:prstGeom prst="roundRect">
            <a:avLst>
              <a:gd name="adj" fmla="val 10909"/>
            </a:avLst>
          </a:prstGeom>
          <a:solidFill>
            <a:srgbClr val="F7F5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097280" y="38862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413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i-abc123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97280" y="438912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2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97280" y="4572000"/>
            <a:ext cx="3840480" cy="502920"/>
          </a:xfrm>
          <a:prstGeom prst="roundRect">
            <a:avLst>
              <a:gd name="adj" fmla="val 10909"/>
            </a:avLst>
          </a:prstGeom>
          <a:solidFill>
            <a:srgbClr val="FBEED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1097280" y="45720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89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0" y="14630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39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STATE REMEMBERS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0" y="1783080"/>
            <a:ext cx="5303520" cy="1828800"/>
          </a:xfrm>
          <a:prstGeom prst="roundRect">
            <a:avLst>
              <a:gd name="adj" fmla="val 4000"/>
            </a:avLst>
          </a:prstGeom>
          <a:solidFill>
            <a:srgbClr val="F7F5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766560" y="2011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ADDRESS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766560" y="2286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C2A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aws_instance.web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766560" y="2697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 maps to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766560" y="29992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RESOURCE ID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766560" y="3246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91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i-abc123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400800" y="4023360"/>
            <a:ext cx="5303520" cy="594360"/>
          </a:xfrm>
          <a:prstGeom prst="roundRect">
            <a:avLst>
              <a:gd name="adj" fmla="val 9231"/>
            </a:avLst>
          </a:prstGeom>
          <a:solidFill>
            <a:srgbClr val="E7F7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629400" y="402336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9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300" b="1" dirty="0">
                <a:solidFill>
                  <a:srgbClr val="1F9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tells Terraform which real resource belongs to each code block.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01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Terraform Uses State During Plan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compares three things to decide what to change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291840" cy="1051560"/>
          </a:xfrm>
          <a:prstGeom prst="roundRect">
            <a:avLst>
              <a:gd name="adj" fmla="val 6957"/>
            </a:avLst>
          </a:prstGeom>
          <a:solidFill>
            <a:srgbClr val="E4DB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7556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01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CODE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212140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301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I want"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34840" y="1554480"/>
            <a:ext cx="3291840" cy="1051560"/>
          </a:xfrm>
          <a:prstGeom prst="roundRect">
            <a:avLst>
              <a:gd name="adj" fmla="val 6957"/>
            </a:avLst>
          </a:prstGeom>
          <a:solidFill>
            <a:srgbClr val="4C2A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434840" y="17556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434840" y="212140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Terraform knows"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412480" y="1554480"/>
            <a:ext cx="3291840" cy="1051560"/>
          </a:xfrm>
          <a:prstGeom prst="roundRect">
            <a:avLst>
              <a:gd name="adj" fmla="val 6957"/>
            </a:avLst>
          </a:prstGeom>
          <a:solidFill>
            <a:srgbClr val="FBEED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412480" y="17556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9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412480" y="212140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E89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actually exists"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 rot="16200000">
            <a:off x="3838841" y="2043943"/>
            <a:ext cx="5061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 rot="16200000">
            <a:off x="7644298" y="1997878"/>
            <a:ext cx="8505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12480" y="26243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351232" y="3099816"/>
            <a:ext cx="3291840" cy="640080"/>
          </a:xfrm>
          <a:prstGeom prst="roundRect">
            <a:avLst>
              <a:gd name="adj" fmla="val 8571"/>
            </a:avLst>
          </a:prstGeom>
          <a:solidFill>
            <a:srgbClr val="301A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351232" y="309981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Plan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" y="42976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4C2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617720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E4DB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40080" y="478231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01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0080" y="509320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01A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t3.small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36392" y="4617720"/>
            <a:ext cx="2011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3319272" y="4617720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F7F5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502152" y="478231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502152" y="509320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13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t3.micro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98464" y="4617720"/>
            <a:ext cx="2011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181344" y="4617720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FBEED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364224" y="478231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9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364224" y="509320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91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t3.micro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860536" y="4617720"/>
            <a:ext cx="2011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9043416" y="4617720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E7F7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9226296" y="478231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9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PLAN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226296" y="509320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9D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t3.micro → t3.small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57200" y="6080760"/>
            <a:ext cx="11247120" cy="594360"/>
          </a:xfrm>
          <a:prstGeom prst="roundRect">
            <a:avLst>
              <a:gd name="adj" fmla="val 9231"/>
            </a:avLst>
          </a:prstGeom>
          <a:solidFill>
            <a:srgbClr val="E7F7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85800" y="608076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9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300" b="1" dirty="0">
                <a:solidFill>
                  <a:srgbClr val="1F9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is Terraform's reference point for understanding what needs to change.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01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Local State Problem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default, state lives on one developer's laptop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BEHAVIOR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755648"/>
            <a:ext cx="3657600" cy="1691640"/>
          </a:xfrm>
          <a:prstGeom prst="roundRect">
            <a:avLst>
              <a:gd name="adj" fmla="val 4324"/>
            </a:avLst>
          </a:prstGeom>
          <a:solidFill>
            <a:srgbClr val="F7F5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19385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1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Developer Laptop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237744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E64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main.tf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E64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variables.tf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D64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terraform.tfstate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480560" y="14630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PROBLEM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80560" y="1783080"/>
            <a:ext cx="3291840" cy="548640"/>
          </a:xfrm>
          <a:prstGeom prst="roundRect">
            <a:avLst>
              <a:gd name="adj" fmla="val 10000"/>
            </a:avLst>
          </a:prstGeom>
          <a:solidFill>
            <a:srgbClr val="E4DB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480560" y="17830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01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A  →  State A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480560" y="2423160"/>
            <a:ext cx="3291840" cy="548640"/>
          </a:xfrm>
          <a:prstGeom prst="roundRect">
            <a:avLst>
              <a:gd name="adj" fmla="val 10000"/>
            </a:avLst>
          </a:prstGeom>
          <a:solidFill>
            <a:srgbClr val="E4DB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480560" y="24231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01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B  →  State B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480560" y="3154680"/>
            <a:ext cx="3291840" cy="1417320"/>
          </a:xfrm>
          <a:prstGeom prst="roundRect">
            <a:avLst>
              <a:gd name="adj" fmla="val 5161"/>
            </a:avLst>
          </a:prstGeom>
          <a:solidFill>
            <a:srgbClr val="FCEA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709160" y="32918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A creates a VPC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709160" y="36118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Only State A knows about it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09160" y="393192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41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B sees: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41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“Terraform doesn't know about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41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VPC.”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138160" y="1463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38160" y="1847088"/>
            <a:ext cx="384048" cy="384048"/>
          </a:xfrm>
          <a:prstGeom prst="ellipse">
            <a:avLst/>
          </a:prstGeom>
          <a:solidFill>
            <a:srgbClr val="FCEA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8138160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86800" y="17830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41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state copies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138160" y="2560320"/>
            <a:ext cx="384048" cy="384048"/>
          </a:xfrm>
          <a:prstGeom prst="ellipse">
            <a:avLst/>
          </a:prstGeom>
          <a:solidFill>
            <a:srgbClr val="FCEA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8138160" y="2560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686800" y="249631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41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can be lost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8138160" y="3273552"/>
            <a:ext cx="384048" cy="384048"/>
          </a:xfrm>
          <a:prstGeom prst="ellipse">
            <a:avLst/>
          </a:prstGeom>
          <a:solidFill>
            <a:srgbClr val="FCEA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8138160" y="3273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686800" y="320954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41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 overwrite each other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8138160" y="3986784"/>
            <a:ext cx="384048" cy="384048"/>
          </a:xfrm>
          <a:prstGeom prst="ellipse">
            <a:avLst/>
          </a:prstGeom>
          <a:solidFill>
            <a:srgbClr val="FCEA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8138160" y="3986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686800" y="3922776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41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info stored locally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457200" y="5989320"/>
            <a:ext cx="11247120" cy="594360"/>
          </a:xfrm>
          <a:prstGeom prst="roundRect">
            <a:avLst>
              <a:gd name="adj" fmla="val 9231"/>
            </a:avLst>
          </a:prstGeom>
          <a:solidFill>
            <a:srgbClr val="FCEA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85800" y="598932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3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state doesn't work for teams — it's isolated, fragile, and unsafe.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01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Remote State with Amazon S3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state centrally so the whole team shares one source of truth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4C2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STATE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194560" cy="502920"/>
          </a:xfrm>
          <a:prstGeom prst="roundRect">
            <a:avLst>
              <a:gd name="adj" fmla="val 10909"/>
            </a:avLst>
          </a:prstGeom>
          <a:solidFill>
            <a:srgbClr val="E4DB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01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A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651760" y="18288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C2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487168"/>
            <a:ext cx="2194560" cy="502920"/>
          </a:xfrm>
          <a:prstGeom prst="roundRect">
            <a:avLst>
              <a:gd name="adj" fmla="val 10909"/>
            </a:avLst>
          </a:prstGeom>
          <a:solidFill>
            <a:srgbClr val="E4DB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57200" y="248716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01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B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651760" y="248716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C2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145536"/>
            <a:ext cx="2194560" cy="502920"/>
          </a:xfrm>
          <a:prstGeom prst="roundRect">
            <a:avLst>
              <a:gd name="adj" fmla="val 10909"/>
            </a:avLst>
          </a:prstGeom>
          <a:solidFill>
            <a:srgbClr val="E4DB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57200" y="3145536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01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C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651760" y="3145536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C2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291840" y="1874520"/>
            <a:ext cx="2377440" cy="1417320"/>
          </a:xfrm>
          <a:prstGeom prst="roundRect">
            <a:avLst>
              <a:gd name="adj" fmla="val 5161"/>
            </a:avLst>
          </a:prstGeom>
          <a:solidFill>
            <a:srgbClr val="4C2A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91840" y="2103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Bucket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291840" y="2606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9D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terraform.tfstate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39776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→  AFTER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297680"/>
            <a:ext cx="5212080" cy="548640"/>
          </a:xfrm>
          <a:prstGeom prst="roundRect">
            <a:avLst>
              <a:gd name="adj" fmla="val 10000"/>
            </a:avLst>
          </a:prstGeom>
          <a:solidFill>
            <a:srgbClr val="FCEA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57200" y="429768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D64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Laptop  →  terraform.tfstate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486460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57200" y="5166360"/>
            <a:ext cx="5212080" cy="548640"/>
          </a:xfrm>
          <a:prstGeom prst="roundRect">
            <a:avLst>
              <a:gd name="adj" fmla="val 10000"/>
            </a:avLst>
          </a:prstGeom>
          <a:solidFill>
            <a:srgbClr val="E7F7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57200" y="516636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9D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S3  →  prod/web/terraform.tfstate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26480" y="146304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39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CONFIGURATION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1783080"/>
            <a:ext cx="5577840" cy="2286000"/>
          </a:xfrm>
          <a:prstGeom prst="roundRect">
            <a:avLst>
              <a:gd name="adj" fmla="val 2400"/>
            </a:avLst>
          </a:prstGeom>
          <a:solidFill>
            <a:srgbClr val="2A18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327648" y="1892808"/>
            <a:ext cx="5175504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E9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{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E9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backend "s3" {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E9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bucket = "company-terraform-state"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E9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key    = "prod/web/terraform.tfstate"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E9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region = "us-east-1"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E9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E9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126480" y="4343400"/>
            <a:ext cx="5577840" cy="594360"/>
          </a:xfrm>
          <a:prstGeom prst="roundRect">
            <a:avLst>
              <a:gd name="adj" fmla="val 9231"/>
            </a:avLst>
          </a:prstGeom>
          <a:solidFill>
            <a:srgbClr val="E7F7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355080" y="434340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9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300" b="1" dirty="0">
                <a:solidFill>
                  <a:srgbClr val="1F9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gives you centralized, durable, shared storage for Terraform state.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01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Locking with DynamoDB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two people from changing the state at the same time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1645920" cy="502920"/>
          </a:xfrm>
          <a:prstGeom prst="roundRect">
            <a:avLst>
              <a:gd name="adj" fmla="val 10909"/>
            </a:avLst>
          </a:prstGeom>
          <a:solidFill>
            <a:srgbClr val="E4DB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01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1645920" cy="502920"/>
          </a:xfrm>
          <a:prstGeom prst="roundRect">
            <a:avLst>
              <a:gd name="adj" fmla="val 10909"/>
            </a:avLst>
          </a:prstGeom>
          <a:solidFill>
            <a:srgbClr val="E4DB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01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B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148840" y="1737360"/>
            <a:ext cx="457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606040" y="1737360"/>
            <a:ext cx="1508760" cy="1097280"/>
          </a:xfrm>
          <a:prstGeom prst="roundRect">
            <a:avLst>
              <a:gd name="adj" fmla="val 5000"/>
            </a:avLst>
          </a:prstGeom>
          <a:solidFill>
            <a:srgbClr val="FCEA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606040" y="173736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10896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Conflicting changes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State corruption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434840" y="1417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4C2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LOCKING CONCEPT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34840" y="1737360"/>
            <a:ext cx="2926080" cy="475488"/>
          </a:xfrm>
          <a:prstGeom prst="roundRect">
            <a:avLst>
              <a:gd name="adj" fmla="val 11538"/>
            </a:avLst>
          </a:prstGeom>
          <a:solidFill>
            <a:srgbClr val="E4DB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434840" y="173736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01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A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434840" y="2212848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2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434840" y="2340864"/>
            <a:ext cx="2926080" cy="475488"/>
          </a:xfrm>
          <a:prstGeom prst="roundRect">
            <a:avLst>
              <a:gd name="adj" fmla="val 11538"/>
            </a:avLst>
          </a:prstGeom>
          <a:solidFill>
            <a:srgbClr val="4C2A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434840" y="2340864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 Lock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434840" y="2816352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2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434840" y="2944368"/>
            <a:ext cx="2926080" cy="475488"/>
          </a:xfrm>
          <a:prstGeom prst="roundRect">
            <a:avLst>
              <a:gd name="adj" fmla="val 11538"/>
            </a:avLst>
          </a:prstGeom>
          <a:solidFill>
            <a:srgbClr val="FBEED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434840" y="2944368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891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 = LOCKED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434840" y="3419856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2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434840" y="3547872"/>
            <a:ext cx="2926080" cy="475488"/>
          </a:xfrm>
          <a:prstGeom prst="roundRect">
            <a:avLst>
              <a:gd name="adj" fmla="val 11538"/>
            </a:avLst>
          </a:prstGeom>
          <a:solidFill>
            <a:srgbClr val="F7F5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434840" y="3547872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413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apply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434840" y="4023360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2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434840" y="4151376"/>
            <a:ext cx="2926080" cy="475488"/>
          </a:xfrm>
          <a:prstGeom prst="roundRect">
            <a:avLst>
              <a:gd name="adj" fmla="val 11538"/>
            </a:avLst>
          </a:prstGeom>
          <a:solidFill>
            <a:srgbClr val="E7F7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434840" y="4151376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9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Lock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434840" y="50292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Then Developer B can safely use the state.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772400" y="14173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39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772400" y="1737360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4C2A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8046720" y="18745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046720" y="22128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9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Stores the State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772400" y="2788920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E891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8046720" y="29260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046720" y="326440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Stores the Lock info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772400" y="384048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newer Terraform versions also support S3-native locking — check what your version supports.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57200" y="5989320"/>
            <a:ext cx="11247120" cy="594360"/>
          </a:xfrm>
          <a:prstGeom prst="roundRect">
            <a:avLst>
              <a:gd name="adj" fmla="val 9231"/>
            </a:avLst>
          </a:prstGeom>
          <a:solidFill>
            <a:srgbClr val="E7F7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685800" y="598932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9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300" b="1" dirty="0">
                <a:solidFill>
                  <a:srgbClr val="1F9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protects the state file; DynamoDB prevents simultaneous changes.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01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State Drift?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real infrastructure no longer matches your state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4C2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DESIRED vs ACTUAL INFRASTRUCTURE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5212080" cy="777240"/>
          </a:xfrm>
          <a:prstGeom prst="roundRect">
            <a:avLst>
              <a:gd name="adj" fmla="val 9412"/>
            </a:avLst>
          </a:prstGeom>
          <a:solidFill>
            <a:srgbClr val="E4DB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01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Code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474720" y="18288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301A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t3.micro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5212080" cy="777240"/>
          </a:xfrm>
          <a:prstGeom prst="roundRect">
            <a:avLst>
              <a:gd name="adj" fmla="val 9412"/>
            </a:avLst>
          </a:prstGeom>
          <a:solidFill>
            <a:srgbClr val="F7F5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31520" y="27432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State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474720" y="27432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2413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t3.micro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657600"/>
            <a:ext cx="5212080" cy="777240"/>
          </a:xfrm>
          <a:prstGeom prst="roundRect">
            <a:avLst>
              <a:gd name="adj" fmla="val 9412"/>
            </a:avLst>
          </a:prstGeom>
          <a:solidFill>
            <a:srgbClr val="FCEA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31520" y="36576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(actual)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474720" y="36576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64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t3.large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4617720"/>
            <a:ext cx="5212080" cy="594360"/>
          </a:xfrm>
          <a:prstGeom prst="roundRect">
            <a:avLst>
              <a:gd name="adj" fmla="val 9231"/>
            </a:avLst>
          </a:prstGeom>
          <a:solidFill>
            <a:srgbClr val="4C2A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57200" y="461772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 This difference is called STATE DRIFT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126480" y="146304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DRIFT HAPPEN?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26480" y="178308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41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changes infrastructure outside of Terraform: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126480" y="2286000"/>
            <a:ext cx="5577840" cy="640080"/>
          </a:xfrm>
          <a:prstGeom prst="roundRect">
            <a:avLst>
              <a:gd name="adj" fmla="val 8571"/>
            </a:avLst>
          </a:prstGeom>
          <a:solidFill>
            <a:srgbClr val="FBEED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126480" y="228600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89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AWS Console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126480" y="2926080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26480" y="3182112"/>
            <a:ext cx="5577840" cy="640080"/>
          </a:xfrm>
          <a:prstGeom prst="roundRect">
            <a:avLst>
              <a:gd name="adj" fmla="val 8571"/>
            </a:avLst>
          </a:prstGeom>
          <a:solidFill>
            <a:srgbClr val="FCEA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126480" y="3182112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D64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Change EC2:  t3.micro → t3.large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126480" y="4023360"/>
            <a:ext cx="5577840" cy="640080"/>
          </a:xfrm>
          <a:prstGeom prst="roundRect">
            <a:avLst>
              <a:gd name="adj" fmla="val 8571"/>
            </a:avLst>
          </a:prstGeom>
          <a:solidFill>
            <a:srgbClr val="F7F5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355080" y="402336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1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did not make this change — so its state is now out of date.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01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Terraform Detects Drift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refreshes its view of the real world before every plan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3566160" cy="3566160"/>
          </a:xfrm>
          <a:prstGeom prst="roundRect">
            <a:avLst>
              <a:gd name="adj" fmla="val 2564"/>
            </a:avLst>
          </a:prstGeom>
          <a:solidFill>
            <a:srgbClr val="F7F5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31520" y="1764792"/>
            <a:ext cx="502920" cy="502920"/>
          </a:xfrm>
          <a:prstGeom prst="ellipse">
            <a:avLst/>
          </a:prstGeom>
          <a:solidFill>
            <a:srgbClr val="4C2A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17647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7830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1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Plan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5146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State: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77240" y="27706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E64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t3.micro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3291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AWS: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77240" y="354787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64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t3.large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77240" y="4114800"/>
            <a:ext cx="2926080" cy="0"/>
          </a:xfrm>
          <a:prstGeom prst="line">
            <a:avLst/>
          </a:prstGeom>
          <a:noFill/>
          <a:ln w="12700">
            <a:solidFill>
              <a:srgbClr val="DDD6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77240" y="42062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and reality disagree — but Terraform doesn't know yet.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005072" y="1508760"/>
            <a:ext cx="310896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C2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297680" y="1508760"/>
            <a:ext cx="3566160" cy="3566160"/>
          </a:xfrm>
          <a:prstGeom prst="roundRect">
            <a:avLst>
              <a:gd name="adj" fmla="val 2564"/>
            </a:avLst>
          </a:prstGeom>
          <a:solidFill>
            <a:srgbClr val="F7F5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572000" y="1764792"/>
            <a:ext cx="502920" cy="502920"/>
          </a:xfrm>
          <a:prstGeom prst="ellipse">
            <a:avLst/>
          </a:prstGeom>
          <a:solidFill>
            <a:srgbClr val="4C2A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572000" y="17647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212080" y="17830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1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Refresh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617720" y="25146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AWS: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617720" y="27706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2A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"current config?"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617720" y="3291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says: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617720" y="354787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91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t3.large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617720" y="4114800"/>
            <a:ext cx="2926080" cy="0"/>
          </a:xfrm>
          <a:prstGeom prst="line">
            <a:avLst/>
          </a:prstGeom>
          <a:noFill/>
          <a:ln w="12700">
            <a:solidFill>
              <a:srgbClr val="DDD6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617720" y="42062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updates its understanding of the real infrastructure.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845552" y="1508760"/>
            <a:ext cx="310896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C2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8138160" y="1508760"/>
            <a:ext cx="3566160" cy="3566160"/>
          </a:xfrm>
          <a:prstGeom prst="roundRect">
            <a:avLst>
              <a:gd name="adj" fmla="val 2564"/>
            </a:avLst>
          </a:prstGeom>
          <a:solidFill>
            <a:srgbClr val="F7F5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8412480" y="1764792"/>
            <a:ext cx="502920" cy="502920"/>
          </a:xfrm>
          <a:prstGeom prst="ellipse">
            <a:avLst/>
          </a:prstGeom>
          <a:solidFill>
            <a:srgbClr val="4C2A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8412480" y="17647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052560" y="17830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1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Plan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458200" y="25146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458200" y="27706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01A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t3.micro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458200" y="3291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Actual: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458200" y="354787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64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t3.large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8458200" y="4114800"/>
            <a:ext cx="2926080" cy="0"/>
          </a:xfrm>
          <a:prstGeom prst="line">
            <a:avLst/>
          </a:prstGeom>
          <a:noFill/>
          <a:ln w="12700">
            <a:solidFill>
              <a:srgbClr val="DDD6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8458200" y="42062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Plan: ~ instance_type "t3.large" → "t3.micro"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5989320"/>
            <a:ext cx="11247120" cy="594360"/>
          </a:xfrm>
          <a:prstGeom prst="roundRect">
            <a:avLst>
              <a:gd name="adj" fmla="val 9231"/>
            </a:avLst>
          </a:prstGeom>
          <a:solidFill>
            <a:srgbClr val="E7F7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685800" y="598932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9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300" b="1" dirty="0">
                <a:solidFill>
                  <a:srgbClr val="1F9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is detected when Terraform compares your desired config with the live infrastructure.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01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Terraform Import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an existing resource under Terraform's management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755648"/>
            <a:ext cx="5394960" cy="548640"/>
          </a:xfrm>
          <a:prstGeom prst="roundRect">
            <a:avLst>
              <a:gd name="adj" fmla="val 10000"/>
            </a:avLst>
          </a:prstGeom>
          <a:solidFill>
            <a:srgbClr val="FBEED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755648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891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 EC2 already exists  •  i-abc123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234086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but Terraform state has…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633472"/>
            <a:ext cx="5394960" cy="502920"/>
          </a:xfrm>
          <a:prstGeom prst="roundRect">
            <a:avLst>
              <a:gd name="adj" fmla="val 10909"/>
            </a:avLst>
          </a:prstGeom>
          <a:solidFill>
            <a:srgbClr val="FCEA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57200" y="2633472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D64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State:  nothing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32918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41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Write a matching resource block: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566160"/>
            <a:ext cx="5394960" cy="868680"/>
          </a:xfrm>
          <a:prstGeom prst="roundRect">
            <a:avLst>
              <a:gd name="adj" fmla="val 6316"/>
            </a:avLst>
          </a:prstGeom>
          <a:solidFill>
            <a:srgbClr val="2A18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58368" y="3675888"/>
            <a:ext cx="499262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"aws_instance" "web" {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configuration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5262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41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Then run import: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4800600"/>
            <a:ext cx="5394960" cy="502920"/>
          </a:xfrm>
          <a:prstGeom prst="roundRect">
            <a:avLst>
              <a:gd name="adj" fmla="val 10909"/>
            </a:avLst>
          </a:prstGeom>
          <a:solidFill>
            <a:srgbClr val="2A18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58368" y="4910328"/>
            <a:ext cx="49926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9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import aws_instance.web i-abc123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263640" y="146304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39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FLOW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178040" y="1783080"/>
            <a:ext cx="3611880" cy="457200"/>
          </a:xfrm>
          <a:prstGeom prst="roundRect">
            <a:avLst>
              <a:gd name="adj" fmla="val 12000"/>
            </a:avLst>
          </a:prstGeom>
          <a:solidFill>
            <a:srgbClr val="FBEED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178040" y="178308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89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AWS EC2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178040" y="2240280"/>
            <a:ext cx="3611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2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178040" y="2386584"/>
            <a:ext cx="3611880" cy="457200"/>
          </a:xfrm>
          <a:prstGeom prst="roundRect">
            <a:avLst>
              <a:gd name="adj" fmla="val 12000"/>
            </a:avLst>
          </a:prstGeom>
          <a:solidFill>
            <a:srgbClr val="4C2A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178040" y="2386584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import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178040" y="2843784"/>
            <a:ext cx="3611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2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178040" y="2990088"/>
            <a:ext cx="3611880" cy="457200"/>
          </a:xfrm>
          <a:prstGeom prst="roundRect">
            <a:avLst>
              <a:gd name="adj" fmla="val 12000"/>
            </a:avLst>
          </a:prstGeom>
          <a:solidFill>
            <a:srgbClr val="E4DB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7178040" y="299008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01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State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178040" y="3447288"/>
            <a:ext cx="3611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2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178040" y="3593592"/>
            <a:ext cx="3611880" cy="457200"/>
          </a:xfrm>
          <a:prstGeom prst="roundRect">
            <a:avLst>
              <a:gd name="adj" fmla="val 12000"/>
            </a:avLst>
          </a:prstGeom>
          <a:solidFill>
            <a:srgbClr val="E7F7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7178040" y="359359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9D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aws_instance.web = i-abc123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63640" y="461772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F7F5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537960" y="475488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C2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537960" y="502920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Does NOT create the EC2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Does NOT auto-generate perfect code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F9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DOES add an existing resource to state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6035040"/>
            <a:ext cx="11247120" cy="594360"/>
          </a:xfrm>
          <a:prstGeom prst="roundRect">
            <a:avLst>
              <a:gd name="adj" fmla="val 9231"/>
            </a:avLst>
          </a:prstGeom>
          <a:solidFill>
            <a:srgbClr val="E7F7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85800" y="603504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9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300" b="1" dirty="0">
                <a:solidFill>
                  <a:srgbClr val="1F9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links a resource that already exists to a Terraform resource in your state.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01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Complete Terraform State Workflow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all fits together in production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4C2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MENTAL MODEL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E4DB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192938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01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Code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2585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01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want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26517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C2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852928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4C2A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40080" y="29992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State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3284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Terraform knows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372160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C2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3922776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FBEED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40080" y="4069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9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43982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E89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exists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794760" y="1417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4C2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ARCHITECTURE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794760" y="1783080"/>
            <a:ext cx="1828800" cy="411480"/>
          </a:xfrm>
          <a:prstGeom prst="roundRect">
            <a:avLst>
              <a:gd name="adj" fmla="val 13333"/>
            </a:avLst>
          </a:prstGeom>
          <a:solidFill>
            <a:srgbClr val="E4DB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794760" y="1783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01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794760" y="2286000"/>
            <a:ext cx="1828800" cy="411480"/>
          </a:xfrm>
          <a:prstGeom prst="roundRect">
            <a:avLst>
              <a:gd name="adj" fmla="val 13333"/>
            </a:avLst>
          </a:prstGeom>
          <a:solidFill>
            <a:srgbClr val="E4DB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794760" y="22860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01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B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794760" y="2788920"/>
            <a:ext cx="1828800" cy="411480"/>
          </a:xfrm>
          <a:prstGeom prst="roundRect">
            <a:avLst>
              <a:gd name="adj" fmla="val 13333"/>
            </a:avLst>
          </a:prstGeom>
          <a:solidFill>
            <a:srgbClr val="E4DB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794760" y="27889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01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C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623560" y="1874520"/>
            <a:ext cx="457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C2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080760" y="2084832"/>
            <a:ext cx="777240" cy="685800"/>
          </a:xfrm>
          <a:prstGeom prst="roundRect">
            <a:avLst>
              <a:gd name="adj" fmla="val 8000"/>
            </a:avLst>
          </a:prstGeom>
          <a:solidFill>
            <a:srgbClr val="301A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080760" y="2084832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160520" y="34290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532120" y="34290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3794760" y="3749040"/>
            <a:ext cx="1463040" cy="868680"/>
          </a:xfrm>
          <a:prstGeom prst="roundRect">
            <a:avLst>
              <a:gd name="adj" fmla="val 8421"/>
            </a:avLst>
          </a:prstGeom>
          <a:solidFill>
            <a:srgbClr val="4C2A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3794760" y="385876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794760" y="418795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9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Storage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440680" y="3749040"/>
            <a:ext cx="1463040" cy="868680"/>
          </a:xfrm>
          <a:prstGeom prst="roundRect">
            <a:avLst>
              <a:gd name="adj" fmla="val 8421"/>
            </a:avLst>
          </a:prstGeom>
          <a:solidFill>
            <a:srgbClr val="E891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5440680" y="385876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40680" y="418795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Locking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680960" y="1417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39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FLOW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680960" y="1783080"/>
            <a:ext cx="4023360" cy="411480"/>
          </a:xfrm>
          <a:prstGeom prst="roundRect">
            <a:avLst>
              <a:gd name="adj" fmla="val 11111"/>
            </a:avLst>
          </a:prstGeom>
          <a:solidFill>
            <a:srgbClr val="4C2A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7909560" y="17830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 terraform plan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7680960" y="2263140"/>
            <a:ext cx="4023360" cy="411480"/>
          </a:xfrm>
          <a:prstGeom prst="roundRect">
            <a:avLst>
              <a:gd name="adj" fmla="val 11111"/>
            </a:avLst>
          </a:prstGeom>
          <a:solidFill>
            <a:srgbClr val="F7F5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7909560" y="22631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1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Read remote state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7680960" y="2743200"/>
            <a:ext cx="4023360" cy="411480"/>
          </a:xfrm>
          <a:prstGeom prst="roundRect">
            <a:avLst>
              <a:gd name="adj" fmla="val 11111"/>
            </a:avLst>
          </a:prstGeom>
          <a:solidFill>
            <a:srgbClr val="F7F5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7909560" y="27432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1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Check real infrastructure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7680960" y="3223260"/>
            <a:ext cx="4023360" cy="411480"/>
          </a:xfrm>
          <a:prstGeom prst="roundRect">
            <a:avLst>
              <a:gd name="adj" fmla="val 11111"/>
            </a:avLst>
          </a:prstGeom>
          <a:solidFill>
            <a:srgbClr val="F7F5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7909560" y="32232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1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Detect drift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7680960" y="3703320"/>
            <a:ext cx="4023360" cy="411480"/>
          </a:xfrm>
          <a:prstGeom prst="roundRect">
            <a:avLst>
              <a:gd name="adj" fmla="val 11111"/>
            </a:avLst>
          </a:prstGeom>
          <a:solidFill>
            <a:srgbClr val="F7F5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7909560" y="37033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1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Acquire lock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7680960" y="4183380"/>
            <a:ext cx="4023360" cy="411480"/>
          </a:xfrm>
          <a:prstGeom prst="roundRect">
            <a:avLst>
              <a:gd name="adj" fmla="val 11111"/>
            </a:avLst>
          </a:prstGeom>
          <a:solidFill>
            <a:srgbClr val="4C2A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7909560" y="41833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  terraform apply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7680960" y="4663440"/>
            <a:ext cx="4023360" cy="411480"/>
          </a:xfrm>
          <a:prstGeom prst="roundRect">
            <a:avLst>
              <a:gd name="adj" fmla="val 11111"/>
            </a:avLst>
          </a:prstGeom>
          <a:solidFill>
            <a:srgbClr val="F7F5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7909560" y="46634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1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Update infrastructure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7680960" y="5143500"/>
            <a:ext cx="4023360" cy="411480"/>
          </a:xfrm>
          <a:prstGeom prst="roundRect">
            <a:avLst>
              <a:gd name="adj" fmla="val 11111"/>
            </a:avLst>
          </a:prstGeom>
          <a:solidFill>
            <a:srgbClr val="F7F5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7909560" y="51435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1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Update state in S3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7680960" y="5623560"/>
            <a:ext cx="4023360" cy="411480"/>
          </a:xfrm>
          <a:prstGeom prst="roundRect">
            <a:avLst>
              <a:gd name="adj" fmla="val 11111"/>
            </a:avLst>
          </a:prstGeom>
          <a:solidFill>
            <a:srgbClr val="F7F5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7909560" y="56235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1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Release lock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942</Words>
  <Application>Microsoft Office PowerPoint</Application>
  <PresentationFormat>Widescreen</PresentationFormat>
  <Paragraphs>247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Abhoy Kumar Mondal</cp:lastModifiedBy>
  <cp:revision>2</cp:revision>
  <dcterms:created xsi:type="dcterms:W3CDTF">2026-07-18T12:55:25Z</dcterms:created>
  <dcterms:modified xsi:type="dcterms:W3CDTF">2026-07-21T09:48:34Z</dcterms:modified>
</cp:coreProperties>
</file>