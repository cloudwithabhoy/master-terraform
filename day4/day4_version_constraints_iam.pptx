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7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Version Constraints</a:t>
            </a:r>
            <a:endParaRPr lang="en-US" sz="4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IAM as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lab pins versions and how the lock file keeps a team reproducible — then the Terraform mechanics of declaring an IAM role, trust and permission policies.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137160" cy="137160"/>
          </a:xfrm>
          <a:prstGeom prst="rect">
            <a:avLst/>
          </a:prstGeom>
          <a:solidFill>
            <a:srgbClr val="2E5A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60704" y="4983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5257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Constraints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507492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81344" y="4983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1344" y="5257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E4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 as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2E5A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2E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VERSION CONSTRAINTS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pin versions at all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its providers both ship new versions constantly — bug fixes, new resources, and occasionally breaking changes.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0543032" cy="1417320"/>
          </a:xfrm>
          <a:prstGeom prst="roundRect">
            <a:avLst>
              <a:gd name="adj" fmla="val 3871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3383280"/>
            <a:ext cx="9902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.tf code could behave differently on your laptop, your teammate's laptop, and CI — depending on whatever version each happened to download that day.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Version constraints turn </a:t>
            </a:r>
            <a:r>
              <a:rPr lang="en-US" sz="1800" i="1" dirty="0">
                <a:solidFill>
                  <a:srgbClr val="5B64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“it works on my machine”</a:t>
            </a:r>
            <a:r>
              <a:rPr lang="en-US" sz="1800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into </a:t>
            </a:r>
            <a:r>
              <a:rPr lang="en-US" sz="1800" b="1" i="1" dirty="0">
                <a:solidFill>
                  <a:srgbClr val="3C6E5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“it works, reproducibly, everywhere”</a:t>
            </a:r>
            <a:r>
              <a:rPr lang="en-US" sz="1800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— the same guarantee Day 1 promised for infrastructure, now applied to the tool that builds it.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22960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required_version &amp; required_providers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CLI ITSELF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166360" cy="1417320"/>
          </a:xfrm>
          <a:prstGeom prst="roundRect">
            <a:avLst>
              <a:gd name="adj" fmla="val 3871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2322576"/>
            <a:ext cx="1305763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322576"/>
            <a:ext cx="13057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779776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</a:t>
            </a: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required_version </a:t>
            </a:r>
            <a:r>
              <a:rPr lang="en-US" sz="130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30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 1.5"
</a:t>
            </a: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CLI is older than this, init refuses to run with a clear error — instead of silently misbehaving on unsupported syntax.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938528"/>
            <a:ext cx="4965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EACH PROVIDER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468880"/>
            <a:ext cx="4965192" cy="2743200"/>
          </a:xfrm>
          <a:prstGeom prst="roundRect">
            <a:avLst>
              <a:gd name="adj" fmla="val 2000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629400" y="2322576"/>
            <a:ext cx="1305763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29400" y="2322576"/>
            <a:ext cx="130576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versions.tf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2779776"/>
            <a:ext cx="4416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</a:t>
            </a: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</a:t>
            </a:r>
            <a:r>
              <a:rPr lang="en-US" sz="12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required_providers </a:t>
            </a: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  aws = {
      source  </a:t>
            </a:r>
            <a:r>
              <a:rPr lang="en-US" sz="120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"hashicorp/aws"
</a:t>
            </a: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</a:t>
            </a:r>
            <a:r>
              <a:rPr lang="en-US" sz="120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"~&gt; 5.0"
</a:t>
            </a:r>
            <a:r>
              <a:rPr lang="en-US" sz="12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  }
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212080"/>
            <a:ext cx="5166360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namespace/name. </a:t>
            </a:r>
            <a:r>
              <a:rPr lang="en-US" sz="11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hashicorp/aws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official; third parties use their own namespace.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262128" y="-101092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Constraint operators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AB57D-EBC6-3E20-0533-47D03E9E52AD}"/>
              </a:ext>
            </a:extLst>
          </p:cNvPr>
          <p:cNvSpPr txBox="1"/>
          <p:nvPr/>
        </p:nvSpPr>
        <p:spPr>
          <a:xfrm>
            <a:off x="262128" y="952500"/>
            <a:ext cx="533857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Operator: != </a:t>
            </a:r>
          </a:p>
          <a:p>
            <a:r>
              <a:rPr lang="en-IN" dirty="0"/>
              <a:t>  Meaning: Anything except this one                </a:t>
            </a:r>
          </a:p>
          <a:p>
            <a:r>
              <a:rPr lang="en-IN" dirty="0"/>
              <a:t>  Example: != 1.6.0</a:t>
            </a:r>
          </a:p>
          <a:p>
            <a:r>
              <a:rPr lang="en-IN" dirty="0"/>
              <a:t>  What it allows: Everything but 1.6.0</a:t>
            </a:r>
          </a:p>
          <a:p>
            <a:r>
              <a:rPr lang="en-IN" dirty="0"/>
              <a:t>  ──────────────────────────────────────</a:t>
            </a:r>
          </a:p>
          <a:p>
            <a:r>
              <a:rPr lang="en-IN" dirty="0"/>
              <a:t>  Operator: &gt;</a:t>
            </a:r>
          </a:p>
          <a:p>
            <a:r>
              <a:rPr lang="en-IN" dirty="0"/>
              <a:t>  Meaning: Strictly greater than</a:t>
            </a:r>
          </a:p>
          <a:p>
            <a:r>
              <a:rPr lang="en-IN" dirty="0"/>
              <a:t>  Example: &gt; 1.5</a:t>
            </a:r>
          </a:p>
          <a:p>
            <a:r>
              <a:rPr lang="en-IN" dirty="0"/>
              <a:t>  What it allows: 1.6, 2.0, ... — NOT 1.5 itself   </a:t>
            </a:r>
          </a:p>
          <a:p>
            <a:r>
              <a:rPr lang="en-IN" dirty="0"/>
              <a:t>  ──────────────────────────────────────</a:t>
            </a:r>
          </a:p>
          <a:p>
            <a:r>
              <a:rPr lang="en-IN" dirty="0"/>
              <a:t>  Operator: &gt;=</a:t>
            </a:r>
          </a:p>
          <a:p>
            <a:r>
              <a:rPr lang="en-IN" dirty="0"/>
              <a:t>  Meaning: Greater than or equal to </a:t>
            </a:r>
          </a:p>
          <a:p>
            <a:r>
              <a:rPr lang="en-IN" dirty="0"/>
              <a:t>  Example: &gt;= 1.5</a:t>
            </a:r>
          </a:p>
          <a:p>
            <a:r>
              <a:rPr lang="en-IN" dirty="0"/>
              <a:t>  What it allows: 1.5, 1.6, 2.0, ... — includes 1.5</a:t>
            </a:r>
          </a:p>
          <a:p>
            <a:r>
              <a:rPr lang="en-IN" dirty="0"/>
              <a:t>  ──────────────────────────────────────     </a:t>
            </a:r>
          </a:p>
          <a:p>
            <a:r>
              <a:rPr lang="en-IN" dirty="0"/>
              <a:t>  Operator: &lt;</a:t>
            </a:r>
          </a:p>
          <a:p>
            <a:r>
              <a:rPr lang="en-IN" dirty="0"/>
              <a:t>  Meaning: Strictly less than     </a:t>
            </a:r>
          </a:p>
          <a:p>
            <a:r>
              <a:rPr lang="en-IN" dirty="0"/>
              <a:t>  Example: &lt; 2.0</a:t>
            </a:r>
          </a:p>
          <a:p>
            <a:r>
              <a:rPr lang="en-IN" dirty="0"/>
              <a:t>  What it allows: 1.9, 1.5, ... — NOT 2.0 itself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5DBEF5-71D9-1C6A-783D-F0307D29605D}"/>
              </a:ext>
            </a:extLst>
          </p:cNvPr>
          <p:cNvSpPr txBox="1"/>
          <p:nvPr/>
        </p:nvSpPr>
        <p:spPr>
          <a:xfrm>
            <a:off x="6096000" y="721868"/>
            <a:ext cx="5830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Operator: &lt;= </a:t>
            </a:r>
          </a:p>
          <a:p>
            <a:r>
              <a:rPr lang="en-US" dirty="0"/>
              <a:t>  Meaning: Less than or equal to  </a:t>
            </a:r>
          </a:p>
          <a:p>
            <a:r>
              <a:rPr lang="en-US" dirty="0"/>
              <a:t>  Example: &lt;= 2.0</a:t>
            </a:r>
          </a:p>
          <a:p>
            <a:r>
              <a:rPr lang="en-US" dirty="0"/>
              <a:t>  What it allows: 2.0, 1.9, ... — includes 2.0     </a:t>
            </a:r>
          </a:p>
          <a:p>
            <a:r>
              <a:rPr lang="en-US" dirty="0"/>
              <a:t>  ────────────────────────────────────────</a:t>
            </a:r>
          </a:p>
          <a:p>
            <a:r>
              <a:rPr lang="en-US" dirty="0"/>
              <a:t>  Operator: ~&gt;</a:t>
            </a:r>
          </a:p>
          <a:p>
            <a:r>
              <a:rPr lang="en-US" dirty="0"/>
              <a:t>  Meaning: "Pessimistic" — allows the rightmost    </a:t>
            </a:r>
          </a:p>
          <a:p>
            <a:r>
              <a:rPr lang="en-US" dirty="0"/>
              <a:t>  part</a:t>
            </a:r>
          </a:p>
          <a:p>
            <a:r>
              <a:rPr lang="en-US" dirty="0"/>
              <a:t>  to bump, nothing higher</a:t>
            </a:r>
          </a:p>
          <a:p>
            <a:r>
              <a:rPr lang="en-US" dirty="0"/>
              <a:t>  Example: ~&gt; 5.0</a:t>
            </a:r>
          </a:p>
          <a:p>
            <a:r>
              <a:rPr lang="en-US" dirty="0"/>
              <a:t>  What it allows: 5.1, 5.9 — but NOT 6.0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67D7A2-A1B9-34DE-1532-E1B858EA33E0}"/>
              </a:ext>
            </a:extLst>
          </p:cNvPr>
          <p:cNvSpPr txBox="1"/>
          <p:nvPr/>
        </p:nvSpPr>
        <p:spPr>
          <a:xfrm>
            <a:off x="6096000" y="4690162"/>
            <a:ext cx="5765292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So in </a:t>
            </a:r>
            <a:r>
              <a:rPr lang="en-US" dirty="0" err="1"/>
              <a:t>required_version</a:t>
            </a:r>
            <a:r>
              <a:rPr lang="en-US" dirty="0"/>
              <a:t> = "&gt;= 1.5":</a:t>
            </a:r>
          </a:p>
          <a:p>
            <a:r>
              <a:rPr lang="en-US" dirty="0"/>
              <a:t>  - Your installed Terraform CLI must be 1.5 or </a:t>
            </a:r>
          </a:p>
          <a:p>
            <a:r>
              <a:rPr lang="en-US" dirty="0"/>
              <a:t>  newer — 1.5, 1.6, 2.0, 10.0, anything from 1.5 on</a:t>
            </a:r>
          </a:p>
          <a:p>
            <a:r>
              <a:rPr lang="en-US" dirty="0"/>
              <a:t>  up, forever. </a:t>
            </a:r>
          </a:p>
          <a:p>
            <a:r>
              <a:rPr lang="en-US" dirty="0"/>
              <a:t>  - It would reject 1.4, 1.3, etc. — anything older</a:t>
            </a:r>
          </a:p>
          <a:p>
            <a:r>
              <a:rPr lang="en-US" dirty="0"/>
              <a:t>  than 1.5.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6E4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dependency lock file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43032" cy="1051560"/>
          </a:xfrm>
          <a:prstGeom prst="roundRect">
            <a:avLst>
              <a:gd name="adj" fmla="val 5217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1911096"/>
            <a:ext cx="1036930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1911096"/>
            <a:ext cx="10369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99943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</a:t>
            </a:r>
            <a:r>
              <a:rPr lang="en-US" sz="1300" b="1" dirty="0">
                <a:solidFill>
                  <a:srgbClr val="6E4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.terraform.lock.hcl</a:t>
            </a:r>
            <a:r>
              <a:rPr lang="en-US" sz="13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exact provider versions &amp; checksums resolved.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09E9B4-FF67-DA3E-0DB4-F8BC749AB921}"/>
              </a:ext>
            </a:extLst>
          </p:cNvPr>
          <p:cNvSpPr txBox="1"/>
          <p:nvPr/>
        </p:nvSpPr>
        <p:spPr>
          <a:xfrm>
            <a:off x="685800" y="3088886"/>
            <a:ext cx="1040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lock file is </a:t>
            </a:r>
            <a:r>
              <a:rPr lang="en-US" dirty="0" err="1"/>
              <a:t>Terraform's</a:t>
            </a:r>
            <a:r>
              <a:rPr lang="en-US" dirty="0"/>
              <a:t> way of nailing down exactly which provider version got installed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5ABEE-1408-CB04-B2E2-698D6A72CAD0}"/>
              </a:ext>
            </a:extLst>
          </p:cNvPr>
          <p:cNvSpPr txBox="1"/>
          <p:nvPr/>
        </p:nvSpPr>
        <p:spPr>
          <a:xfrm>
            <a:off x="294640" y="3624596"/>
            <a:ext cx="4632960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Run </a:t>
            </a:r>
            <a:r>
              <a:rPr lang="en-IN" b="1" dirty="0"/>
              <a:t>terraform </a:t>
            </a:r>
            <a:r>
              <a:rPr lang="en-IN" b="1" dirty="0" err="1"/>
              <a:t>init</a:t>
            </a:r>
            <a:r>
              <a:rPr lang="en-IN" b="1" dirty="0"/>
              <a:t> </a:t>
            </a:r>
            <a:r>
              <a:rPr lang="en-IN" dirty="0"/>
              <a:t>, </a:t>
            </a:r>
            <a:r>
              <a:rPr lang="en-IN" dirty="0" err="1"/>
              <a:t>creats</a:t>
            </a:r>
            <a:r>
              <a:rPr lang="en-IN" dirty="0"/>
              <a:t> </a:t>
            </a:r>
            <a:r>
              <a:rPr lang="en-IN" b="1" dirty="0"/>
              <a:t>‘.</a:t>
            </a:r>
            <a:r>
              <a:rPr lang="en-IN" b="1" dirty="0" err="1"/>
              <a:t>terraform.lock.hcl</a:t>
            </a:r>
            <a:r>
              <a:rPr lang="en-IN" b="1" dirty="0"/>
              <a:t>’</a:t>
            </a:r>
          </a:p>
          <a:p>
            <a:r>
              <a:rPr lang="en-IN" dirty="0"/>
              <a:t>What's actually inside it: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sz="1600" dirty="0" err="1"/>
              <a:t>hcl</a:t>
            </a:r>
            <a:endParaRPr lang="en-IN" sz="1600" dirty="0"/>
          </a:p>
          <a:p>
            <a:r>
              <a:rPr lang="en-IN" sz="1600" dirty="0"/>
              <a:t>  provider "registry.terraform.io/</a:t>
            </a:r>
            <a:r>
              <a:rPr lang="en-IN" sz="1600" dirty="0" err="1"/>
              <a:t>hashicorp</a:t>
            </a:r>
            <a:r>
              <a:rPr lang="en-IN" sz="1600" dirty="0"/>
              <a:t>/</a:t>
            </a:r>
            <a:r>
              <a:rPr lang="en-IN" sz="1600" dirty="0" err="1"/>
              <a:t>aws</a:t>
            </a:r>
            <a:r>
              <a:rPr lang="en-IN" sz="1600" dirty="0"/>
              <a:t>" { </a:t>
            </a:r>
          </a:p>
          <a:p>
            <a:r>
              <a:rPr lang="en-IN" sz="1600" dirty="0"/>
              <a:t>    version     = "5.42.0"</a:t>
            </a:r>
          </a:p>
          <a:p>
            <a:r>
              <a:rPr lang="en-IN" sz="1600" dirty="0"/>
              <a:t>    constraints = "~&gt; 5.0"</a:t>
            </a:r>
          </a:p>
          <a:p>
            <a:r>
              <a:rPr lang="en-IN" sz="1600" dirty="0"/>
              <a:t>    hashes = [</a:t>
            </a:r>
          </a:p>
          <a:p>
            <a:r>
              <a:rPr lang="en-IN" sz="1600" dirty="0"/>
              <a:t>      "h1:abc123...",</a:t>
            </a:r>
          </a:p>
          <a:p>
            <a:r>
              <a:rPr lang="en-IN" sz="1600" dirty="0"/>
              <a:t>      "zh:def456...",</a:t>
            </a:r>
          </a:p>
          <a:p>
            <a:r>
              <a:rPr lang="en-IN" sz="1600" dirty="0"/>
              <a:t>    ]</a:t>
            </a:r>
          </a:p>
          <a:p>
            <a:r>
              <a:rPr lang="en-IN" sz="1600" dirty="0"/>
              <a:t> 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DA64E6-9C0B-F2B8-2CCA-8A94A8C32E4A}"/>
              </a:ext>
            </a:extLst>
          </p:cNvPr>
          <p:cNvSpPr txBox="1"/>
          <p:nvPr/>
        </p:nvSpPr>
        <p:spPr>
          <a:xfrm>
            <a:off x="5346700" y="3624596"/>
            <a:ext cx="6019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problem it solves:</a:t>
            </a:r>
          </a:p>
          <a:p>
            <a:r>
              <a:rPr lang="en-US" dirty="0"/>
              <a:t>Without a lock file, two people running terraform  </a:t>
            </a:r>
            <a:r>
              <a:rPr lang="en-US" dirty="0" err="1"/>
              <a:t>init</a:t>
            </a:r>
            <a:r>
              <a:rPr lang="en-US" dirty="0"/>
              <a:t> on the same ~&gt; 5.0 constraint, a week  apart, could get different actual versions (5.31.0 vs 5.42.0)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DA77D7-86E2-3975-6D98-1F408819B39A}"/>
              </a:ext>
            </a:extLst>
          </p:cNvPr>
          <p:cNvSpPr txBox="1"/>
          <p:nvPr/>
        </p:nvSpPr>
        <p:spPr>
          <a:xfrm>
            <a:off x="5499100" y="5118100"/>
            <a:ext cx="6395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One-line summary:</a:t>
            </a:r>
          </a:p>
          <a:p>
            <a:r>
              <a:rPr lang="en-US" b="1" dirty="0"/>
              <a:t> </a:t>
            </a:r>
            <a:r>
              <a:rPr lang="en-US" dirty="0"/>
              <a:t>your </a:t>
            </a:r>
            <a:r>
              <a:rPr lang="en-US" dirty="0" err="1"/>
              <a:t>required_providers</a:t>
            </a:r>
            <a:r>
              <a:rPr lang="en-US" dirty="0"/>
              <a:t> constraint (~&gt; 5.0) says "any version in this range is acceptable"; the lock file says "and here's the one specific version everyone on this team is actually going to use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3657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as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mechanics of declaring an IAM role and policy — trust policies, permission policies, jsonencode() vs. the aws_iam_policy_document data source, and attaching a policy to a role.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 what IAM itself actually is — users, roles, policies, evaluation logic — read </a:t>
            </a:r>
            <a:r>
              <a:rPr lang="en-US" sz="1600" b="1" i="1" dirty="0">
                <a:solidFill>
                  <a:srgbClr val="6E4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aws_iam.md</a:t>
            </a:r>
            <a:r>
              <a:rPr lang="en-US" sz="1600" i="1" dirty="0">
                <a:solidFill>
                  <a:srgbClr val="5B64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alongside this.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6E4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IAM IS, BRIEFLY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Trust policy vs. permission policy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identity assumed temporarily — by a person, a service like EC2, or another account — with no long-lived credentials.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042916" cy="2194560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5875">
            <a:solidFill>
              <a:srgbClr val="2E5A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5A7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Trust policy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3310128"/>
            <a:ext cx="4494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assume the 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role itself. Says which principal — a service, account, or user — is allowed to assume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3076" y="2743200"/>
            <a:ext cx="5042916" cy="2194560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5875">
            <a:solidFill>
              <a:srgbClr val="6E4B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97396" y="292608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E4B8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Permission policy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97396" y="3310128"/>
            <a:ext cx="4494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can do once assumed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97396" y="3657600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separately. Says which AWS actions and resources become available after assuming the role.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16CEE1-FDDE-F6E2-A133-5E7FAB1CBBB2}"/>
              </a:ext>
            </a:extLst>
          </p:cNvPr>
          <p:cNvSpPr txBox="1"/>
          <p:nvPr/>
        </p:nvSpPr>
        <p:spPr>
          <a:xfrm>
            <a:off x="8844534" y="6474936"/>
            <a:ext cx="341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* See ‘attach_multiple_policies.tf’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2E5A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2E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WRITE THE 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jsonencode() vs. the data source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JSONENCODE() — WRITE JSON BY HAND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450592"/>
            <a:ext cx="5852160" cy="2423160"/>
          </a:xfrm>
          <a:prstGeom prst="roundRect">
            <a:avLst>
              <a:gd name="adj" fmla="val 1622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1560" y="2304288"/>
            <a:ext cx="947318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947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2761488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"aws_iam_role"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"app_role"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name </a:t>
            </a:r>
            <a:r>
              <a:rPr lang="en-US" sz="10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"my-role"
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assume_role_policy </a:t>
            </a:r>
            <a:r>
              <a:rPr lang="en-US" sz="10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jsonencode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
    Version </a:t>
            </a:r>
            <a:r>
              <a:rPr lang="en-US" sz="10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"2012-10-17"
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 = [{
      Effect 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"Allow"
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Action 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"sts:AssumeRole"
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Principal = { Service 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"ec2.amazonaws.com"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
    }]
  })
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— TYPED, TODAY'S LAB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2450592"/>
            <a:ext cx="4828032" cy="2249425"/>
          </a:xfrm>
          <a:prstGeom prst="roundRect">
            <a:avLst>
              <a:gd name="adj" fmla="val 1622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766560" y="2304288"/>
            <a:ext cx="947318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2304288"/>
            <a:ext cx="947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2761488"/>
            <a:ext cx="42793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"aws_iam_policy_document"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"ec2"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</a:t>
            </a:r>
            <a:r>
              <a:rPr lang="en-US" sz="10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  actions = [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"sts:AssumeRole"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    </a:t>
            </a:r>
            <a:r>
              <a:rPr lang="en-US" sz="10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principals 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    type        </a:t>
            </a:r>
            <a:r>
              <a:rPr lang="en-US" sz="10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"Service"
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identifiers </a:t>
            </a:r>
            <a:r>
              <a:rPr lang="en-US" sz="10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"ec2.amazonaws.com"</a:t>
            </a:r>
            <a:r>
              <a:rPr lang="en-US" sz="10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    }
  }
}</a:t>
            </a:r>
            <a:endParaRPr lang="en-US" sz="10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90430A-EF9D-5499-52D2-E99108CD1B49}"/>
              </a:ext>
            </a:extLst>
          </p:cNvPr>
          <p:cNvSpPr txBox="1"/>
          <p:nvPr/>
        </p:nvSpPr>
        <p:spPr>
          <a:xfrm>
            <a:off x="635000" y="5207000"/>
            <a:ext cx="10730992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same output JSON,</a:t>
            </a:r>
          </a:p>
          <a:p>
            <a:r>
              <a:rPr lang="en-US" dirty="0"/>
              <a:t>  different authoring experience —    </a:t>
            </a:r>
          </a:p>
          <a:p>
            <a:r>
              <a:rPr lang="en-US" dirty="0"/>
              <a:t>  </a:t>
            </a:r>
            <a:r>
              <a:rPr lang="en-US" b="1" dirty="0" err="1"/>
              <a:t>jsonencode</a:t>
            </a:r>
            <a:r>
              <a:rPr lang="en-US" b="1" dirty="0"/>
              <a:t>() </a:t>
            </a:r>
            <a:r>
              <a:rPr lang="en-US" dirty="0"/>
              <a:t>is "I already have the JSON," </a:t>
            </a:r>
          </a:p>
          <a:p>
            <a:r>
              <a:rPr lang="en-US" b="1" dirty="0" err="1"/>
              <a:t>aws_iam_policy_document</a:t>
            </a:r>
            <a:r>
              <a:rPr lang="en-US" b="1" dirty="0"/>
              <a:t> </a:t>
            </a:r>
            <a:r>
              <a:rPr lang="en-US" dirty="0"/>
              <a:t>is   "let Terraform help me build the JSON correctly."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-502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EEEF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22960" y="868680"/>
            <a:ext cx="137160" cy="137160"/>
          </a:xfrm>
          <a:prstGeom prst="rect">
            <a:avLst/>
          </a:prstGeom>
          <a:solidFill>
            <a:srgbClr val="6E4B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8992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6E4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THAT'S EASY TO FORGET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95528" y="1115568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Attaching a policy to a role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0543032" cy="2514600"/>
          </a:xfrm>
          <a:prstGeom prst="roundRect">
            <a:avLst>
              <a:gd name="adj" fmla="val 2182"/>
            </a:avLst>
          </a:prstGeom>
          <a:solidFill>
            <a:srgbClr val="F6F7F9"/>
          </a:solidFill>
          <a:ln w="12700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51560" y="2002536"/>
            <a:ext cx="947318" cy="310896"/>
          </a:xfrm>
          <a:prstGeom prst="roundRect">
            <a:avLst>
              <a:gd name="adj" fmla="val 14706"/>
            </a:avLst>
          </a:prstGeom>
          <a:solidFill>
            <a:srgbClr val="1F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002536"/>
            <a:ext cx="94731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459736"/>
            <a:ext cx="999439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"aws_iam_policy"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"s3_read_only"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name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"my-role-s3-read-only"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data.aws_iam_policy_document.s3_read_only.json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r>
              <a:rPr lang="en-US" sz="1250" dirty="0">
                <a:solidFill>
                  <a:srgbClr val="2E5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"aws_iam_role_policy_attachment"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9C6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"attach_s3_read"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role      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aws_iam_role.app_role.name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policy_arn </a:t>
            </a:r>
            <a:r>
              <a:rPr lang="en-US" sz="12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50" dirty="0">
                <a:solidFill>
                  <a:srgbClr val="3C6E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aws_iam_policy.s3_read_only.arn
</a:t>
            </a:r>
            <a:r>
              <a:rPr lang="en-US" sz="125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can have multiple policies attached — effective permissions are their </a:t>
            </a:r>
            <a:r>
              <a:rPr lang="en-US" sz="1250" b="1" i="1" dirty="0">
                <a:solidFill>
                  <a:srgbClr val="6E4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Explicit deny anywhere wins; otherwise the default is implicit deny.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1E4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1240</Words>
  <Application>Microsoft Office PowerPoint</Application>
  <PresentationFormat>Widescreen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Terraform 101</dc:creator>
  <cp:lastModifiedBy>Abhoy Kumar Mondal</cp:lastModifiedBy>
  <cp:revision>3</cp:revision>
  <dcterms:created xsi:type="dcterms:W3CDTF">2026-07-14T07:31:57Z</dcterms:created>
  <dcterms:modified xsi:type="dcterms:W3CDTF">2026-07-14T13:36:46Z</dcterms:modified>
</cp:coreProperties>
</file>