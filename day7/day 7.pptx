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EAE5-74A7-6641-944F-E18AB7AC7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AD5A48-25A2-8042-BE2E-9A6D1F027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E078C-62AC-AAF8-8C4C-7C85E2B2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D78DA-1D60-D843-D58F-26010D751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D6669-51AE-54A7-7B81-F75EDDDD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78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56FE-7E74-D794-810B-4921DEA2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9EDC7-9903-2A74-0202-DD7B7EA72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7A947-4597-2677-1F79-60D0F5EA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DC06A-37FF-425E-F609-53F6931E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86C4D-903F-592E-CDC7-CDD5170AD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122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42CA-AE3E-A4FC-603D-30EDA548B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EF1FF-50B9-7AC4-876A-2855F6737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AE877-C7A7-05B8-E8B6-2BB8AB93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1D52C-AF41-709F-2550-BB97D775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CF088-C0D5-35D3-0B6A-EDF5BF7A5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90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C3D-9DA9-6344-93D0-13C6C67CF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47D3F-23FA-5895-28A7-0ACE20DB1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3FA21-B208-9097-182A-7008E796B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2092D-0B23-BE1E-9EE1-AD516515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0E6D1-3DD7-07F4-1FF6-41D602CB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2B960-FDD2-6C15-968C-99FF143E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012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F1D7E-35CF-C57A-F9AB-C32A2923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CF84E-2088-7A5C-DB95-170A79A59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44077-DCF3-C8CB-B10F-FA7FFB9C8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F2779A-5372-5CA5-BF4C-7429B1D1E3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F5DF5-B76F-4640-F705-484E28B19E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021C0-C020-9314-1A86-F26B70D56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8B7B86-64A2-3C38-8C09-82B1E7A4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0892FB-6FBB-82C1-F131-85DBD511F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27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56ED-072A-B915-A842-309F9CCC5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E8DD30-62A7-6FE2-B4C3-FAB31FD7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F20F5-305A-240B-0BAF-30350C9E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88DCA-2092-2408-D2B5-431BC483C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89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452C6-E9E4-2CCC-6B7F-DF3C16F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72304-CD0C-F5A0-3789-0D0EA69B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F5726-63AB-DC72-E0C1-ADC387B5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908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BBCF-989D-10BB-DEDF-7CCDA3184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F5E94-8C1A-278D-3BDF-5D518BA84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8FE96-8D9D-A101-2207-01F2472A3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95690-526C-F272-5FD0-E4ABBEBAB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99D00-8D47-25AC-EBE5-71F6B1EC6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C856C-785A-2662-14C2-41F4EF9E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87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38F7-1663-AC4C-10CF-1EDD1FE6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44572D-441F-2015-08DC-96E3BD06F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A3DA0-D996-6CD1-F12E-E7639E7EA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D46A4-CDAA-4B4B-5178-68A739FE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CF301-B28F-4AD9-1715-FA33EF6B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75B54-D1AA-C43B-42D6-B22CC76BD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587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903FB-0402-3FFD-E276-7FE743C6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C507E-B1E4-C7E5-FE3F-603146F36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262B8-B471-7494-CF97-47A0600A6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CE3BE-DC2A-32DD-4D23-D623BD0A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02411-9AF2-375A-DE92-C6924AF3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D2B184-BBB4-F47E-3DCE-0DCBE36A8A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2F343-6A1E-9BA1-2445-52B0E27C7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420D6-6ADC-C59D-63B8-712DE0A1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7B3F3-B281-BC8C-18A1-074E43C0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751C8-AB3A-0315-7C76-49A57683D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68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AA2CC-C2C0-1134-421A-2F6C896B7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65107-EABC-F264-4CF7-DC9CB07083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597D1-E593-4385-DF3D-633519C92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2F9F25-DEBB-4F8B-BEF4-A6707F0E7DA9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BE0D9-16D6-6A4A-FC01-C8ACF489EC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4D7D8-33E2-FD55-E309-272E7FB4D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CF69E-D1FC-4BB2-BA3B-2852D77E65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51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0C3D5-68F8-6EE8-D031-F49C06623FE7}"/>
              </a:ext>
            </a:extLst>
          </p:cNvPr>
          <p:cNvSpPr txBox="1"/>
          <p:nvPr/>
        </p:nvSpPr>
        <p:spPr>
          <a:xfrm>
            <a:off x="3404107" y="154940"/>
            <a:ext cx="5754407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800" b="1" dirty="0"/>
              <a:t>Terraform Conditional Expression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6DB9F6-3C03-5984-0C65-E90F8130C28B}"/>
              </a:ext>
            </a:extLst>
          </p:cNvPr>
          <p:cNvSpPr txBox="1"/>
          <p:nvPr/>
        </p:nvSpPr>
        <p:spPr>
          <a:xfrm>
            <a:off x="137161" y="835676"/>
            <a:ext cx="10387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conditional expression allows Terraform to choose one value if a condition is true and another value if it is false.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7AE42A-BCA6-1D58-AE58-078FC72D59DB}"/>
              </a:ext>
            </a:extLst>
          </p:cNvPr>
          <p:cNvSpPr txBox="1"/>
          <p:nvPr/>
        </p:nvSpPr>
        <p:spPr>
          <a:xfrm>
            <a:off x="2044700" y="1793411"/>
            <a:ext cx="47625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en-IN" dirty="0"/>
              <a:t>Syntax :     </a:t>
            </a:r>
            <a:r>
              <a:rPr lang="en-US" dirty="0"/>
              <a:t>condition ? </a:t>
            </a:r>
            <a:r>
              <a:rPr lang="en-US" dirty="0" err="1"/>
              <a:t>true_value</a:t>
            </a:r>
            <a:r>
              <a:rPr lang="en-US" dirty="0"/>
              <a:t> : </a:t>
            </a:r>
            <a:r>
              <a:rPr lang="en-US" dirty="0" err="1"/>
              <a:t>false_value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3322C0-C9AC-B11F-F06E-8A0228FEE742}"/>
              </a:ext>
            </a:extLst>
          </p:cNvPr>
          <p:cNvSpPr txBox="1"/>
          <p:nvPr/>
        </p:nvSpPr>
        <p:spPr>
          <a:xfrm>
            <a:off x="137161" y="2590800"/>
            <a:ext cx="1542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Flow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9DCE5-C72C-F3D5-14A9-AAD96DDFCEE3}"/>
              </a:ext>
            </a:extLst>
          </p:cNvPr>
          <p:cNvSpPr txBox="1"/>
          <p:nvPr/>
        </p:nvSpPr>
        <p:spPr>
          <a:xfrm>
            <a:off x="1930400" y="3429000"/>
            <a:ext cx="5232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             Condition</a:t>
            </a:r>
          </a:p>
          <a:p>
            <a:r>
              <a:rPr lang="en-IN" dirty="0"/>
              <a:t>                               │</a:t>
            </a:r>
          </a:p>
          <a:p>
            <a:r>
              <a:rPr lang="en-IN" dirty="0"/>
              <a:t>        ┌────────┴────────┐</a:t>
            </a:r>
          </a:p>
          <a:p>
            <a:r>
              <a:rPr lang="en-IN" dirty="0"/>
              <a:t>        │                                             │</a:t>
            </a:r>
          </a:p>
          <a:p>
            <a:r>
              <a:rPr lang="en-IN" dirty="0"/>
              <a:t>      True                                     False</a:t>
            </a:r>
          </a:p>
          <a:p>
            <a:r>
              <a:rPr lang="en-IN" dirty="0"/>
              <a:t>        │                                            │</a:t>
            </a:r>
          </a:p>
          <a:p>
            <a:r>
              <a:rPr lang="en-IN" dirty="0"/>
              <a:t>Return </a:t>
            </a:r>
            <a:r>
              <a:rPr lang="en-IN" dirty="0" err="1"/>
              <a:t>true_value</a:t>
            </a:r>
            <a:r>
              <a:rPr lang="en-IN" dirty="0"/>
              <a:t>     Return </a:t>
            </a:r>
            <a:r>
              <a:rPr lang="en-IN" dirty="0" err="1"/>
              <a:t>false_value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5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7E8025-EFDB-2DB1-1134-3BBB93D3831C}"/>
              </a:ext>
            </a:extLst>
          </p:cNvPr>
          <p:cNvSpPr txBox="1"/>
          <p:nvPr/>
        </p:nvSpPr>
        <p:spPr>
          <a:xfrm>
            <a:off x="3810000" y="1836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Real-World Use Cases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071FDC-041B-C11F-A23E-0A1794FDD25C}"/>
              </a:ext>
            </a:extLst>
          </p:cNvPr>
          <p:cNvSpPr txBox="1"/>
          <p:nvPr/>
        </p:nvSpPr>
        <p:spPr>
          <a:xfrm>
            <a:off x="3048000" y="145321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variable "environment" {</a:t>
            </a:r>
          </a:p>
          <a:p>
            <a:r>
              <a:rPr lang="en-IN" sz="2000" dirty="0"/>
              <a:t>  default = "dev"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resource "</a:t>
            </a:r>
            <a:r>
              <a:rPr lang="en-IN" sz="2000" dirty="0" err="1"/>
              <a:t>aws_instance</a:t>
            </a:r>
            <a:r>
              <a:rPr lang="en-IN" sz="2000" dirty="0"/>
              <a:t>" "web" {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instance_type</a:t>
            </a:r>
            <a:r>
              <a:rPr lang="en-IN" sz="2000" dirty="0"/>
              <a:t> = </a:t>
            </a:r>
            <a:r>
              <a:rPr lang="en-IN" sz="2000" dirty="0" err="1"/>
              <a:t>var.environment</a:t>
            </a:r>
            <a:r>
              <a:rPr lang="en-IN" sz="2000" dirty="0"/>
              <a:t> == "prod"</a:t>
            </a:r>
          </a:p>
          <a:p>
            <a:r>
              <a:rPr lang="en-IN" sz="2000" dirty="0"/>
              <a:t>                  ? "t3.large"</a:t>
            </a:r>
          </a:p>
          <a:p>
            <a:r>
              <a:rPr lang="en-IN" sz="2000" dirty="0"/>
              <a:t>                  : "t3.micro"</a:t>
            </a:r>
          </a:p>
          <a:p>
            <a:r>
              <a:rPr lang="en-IN" sz="2000" dirty="0"/>
              <a:t>}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57B822-7A57-9FFB-01B7-ED72AA9F2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633533"/>
              </p:ext>
            </p:extLst>
          </p:nvPr>
        </p:nvGraphicFramePr>
        <p:xfrm>
          <a:off x="1765300" y="5355727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9675332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064650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Instance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839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t3.micro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840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t3.large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5827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B80DE0E-DFCB-6DDD-4D8B-1408CD485024}"/>
              </a:ext>
            </a:extLst>
          </p:cNvPr>
          <p:cNvSpPr txBox="1"/>
          <p:nvPr/>
        </p:nvSpPr>
        <p:spPr>
          <a:xfrm>
            <a:off x="139700" y="507727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Output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C5DAB4-DF51-E596-9867-658E869EA761}"/>
              </a:ext>
            </a:extLst>
          </p:cNvPr>
          <p:cNvSpPr txBox="1"/>
          <p:nvPr/>
        </p:nvSpPr>
        <p:spPr>
          <a:xfrm>
            <a:off x="139700" y="99154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Example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6187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7D5B80-5217-2B35-2BFA-DD6098B05A23}"/>
              </a:ext>
            </a:extLst>
          </p:cNvPr>
          <p:cNvSpPr txBox="1"/>
          <p:nvPr/>
        </p:nvSpPr>
        <p:spPr>
          <a:xfrm>
            <a:off x="4390571" y="141905"/>
            <a:ext cx="3410857" cy="6463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3600" b="1" dirty="0"/>
              <a:t>dynamic block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4D924C-F8E0-D45A-12FF-A096960BA936}"/>
              </a:ext>
            </a:extLst>
          </p:cNvPr>
          <p:cNvSpPr txBox="1"/>
          <p:nvPr/>
        </p:nvSpPr>
        <p:spPr>
          <a:xfrm>
            <a:off x="355599" y="1330849"/>
            <a:ext cx="11480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The </a:t>
            </a:r>
            <a:r>
              <a:rPr lang="en-IN" sz="2000" b="1" dirty="0"/>
              <a:t>dynamic block</a:t>
            </a:r>
            <a:r>
              <a:rPr lang="en-IN" sz="2000" dirty="0"/>
              <a:t> in Terraform is used when you need to </a:t>
            </a:r>
            <a:r>
              <a:rPr lang="en-IN" sz="2000" b="1" dirty="0"/>
              <a:t>generate one or more nested blocks dynamically</a:t>
            </a:r>
            <a:r>
              <a:rPr lang="en-IN" sz="2000" dirty="0"/>
              <a:t> based on a collection (list, map, or set).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B1902C-B2CE-975F-4F94-8AC5F4F9446D}"/>
              </a:ext>
            </a:extLst>
          </p:cNvPr>
          <p:cNvSpPr txBox="1"/>
          <p:nvPr/>
        </p:nvSpPr>
        <p:spPr>
          <a:xfrm>
            <a:off x="355599" y="2361363"/>
            <a:ext cx="11038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Instead of writing the same nested block multiple times, Terraform creates them automatically by looping through a collection.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BE260A-0460-96A5-7ED8-DDE64FEAB4DE}"/>
              </a:ext>
            </a:extLst>
          </p:cNvPr>
          <p:cNvSpPr txBox="1"/>
          <p:nvPr/>
        </p:nvSpPr>
        <p:spPr>
          <a:xfrm>
            <a:off x="355599" y="3244334"/>
            <a:ext cx="1175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Syntax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D31BC4-4AB2-054A-92F5-FBDE53621298}"/>
              </a:ext>
            </a:extLst>
          </p:cNvPr>
          <p:cNvSpPr txBox="1"/>
          <p:nvPr/>
        </p:nvSpPr>
        <p:spPr>
          <a:xfrm>
            <a:off x="1342571" y="3787783"/>
            <a:ext cx="510177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dynamic "&lt;</a:t>
            </a:r>
            <a:r>
              <a:rPr lang="en-IN" dirty="0" err="1"/>
              <a:t>block_name</a:t>
            </a:r>
            <a:r>
              <a:rPr lang="en-IN" dirty="0"/>
              <a:t>&gt;" {</a:t>
            </a:r>
          </a:p>
          <a:p>
            <a:r>
              <a:rPr lang="en-IN" dirty="0"/>
              <a:t>  </a:t>
            </a:r>
            <a:r>
              <a:rPr lang="en-IN" dirty="0" err="1"/>
              <a:t>for_each</a:t>
            </a:r>
            <a:r>
              <a:rPr lang="en-IN" dirty="0"/>
              <a:t> = collection</a:t>
            </a:r>
          </a:p>
          <a:p>
            <a:endParaRPr lang="en-IN" dirty="0"/>
          </a:p>
          <a:p>
            <a:r>
              <a:rPr lang="en-IN" dirty="0"/>
              <a:t>  content {</a:t>
            </a:r>
          </a:p>
          <a:p>
            <a:r>
              <a:rPr lang="en-IN" dirty="0"/>
              <a:t>    # Nested block configuration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A1A2D-D56A-ADBF-1C6C-0C6724C78092}"/>
              </a:ext>
            </a:extLst>
          </p:cNvPr>
          <p:cNvSpPr txBox="1"/>
          <p:nvPr/>
        </p:nvSpPr>
        <p:spPr>
          <a:xfrm>
            <a:off x="7199086" y="385030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Key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Creates nested blocks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dirty="0" err="1">
                <a:latin typeface="Courier New" panose="02070309020205020404" pitchFamily="49" charset="0"/>
              </a:rPr>
              <a:t>for_each</a:t>
            </a:r>
            <a:r>
              <a:rPr lang="en-IN" dirty="0"/>
              <a:t> to iterate over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Reduces duplicate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Improves maintainability</a:t>
            </a:r>
          </a:p>
        </p:txBody>
      </p:sp>
    </p:spTree>
    <p:extLst>
      <p:ext uri="{BB962C8B-B14F-4D97-AF65-F5344CB8AC3E}">
        <p14:creationId xmlns:p14="http://schemas.microsoft.com/office/powerpoint/2010/main" val="2698619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30D246-8A02-96ED-A05A-F0BCAAA4EF76}"/>
              </a:ext>
            </a:extLst>
          </p:cNvPr>
          <p:cNvSpPr txBox="1"/>
          <p:nvPr/>
        </p:nvSpPr>
        <p:spPr>
          <a:xfrm>
            <a:off x="3744686" y="185448"/>
            <a:ext cx="6096000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b="1" dirty="0"/>
              <a:t>Why Do We Need Dynamic Blocks?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24871-A7EF-3D91-BC45-6CBEB8F026E6}"/>
              </a:ext>
            </a:extLst>
          </p:cNvPr>
          <p:cNvSpPr txBox="1"/>
          <p:nvPr/>
        </p:nvSpPr>
        <p:spPr>
          <a:xfrm>
            <a:off x="6705601" y="922453"/>
            <a:ext cx="4165599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resource "</a:t>
            </a:r>
            <a:r>
              <a:rPr lang="en-IN" sz="1600" dirty="0" err="1"/>
              <a:t>aws_security_group</a:t>
            </a:r>
            <a:r>
              <a:rPr lang="en-IN" sz="1600" dirty="0"/>
              <a:t>" "web" {</a:t>
            </a:r>
          </a:p>
          <a:p>
            <a:r>
              <a:rPr lang="en-IN" sz="1600" dirty="0"/>
              <a:t>  name = "web-sg"</a:t>
            </a:r>
          </a:p>
          <a:p>
            <a:endParaRPr lang="en-IN" sz="1600" dirty="0"/>
          </a:p>
          <a:p>
            <a:r>
              <a:rPr lang="en-IN" sz="1600" dirty="0"/>
              <a:t>  ingress {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from_port</a:t>
            </a:r>
            <a:r>
              <a:rPr lang="en-IN" sz="1600" dirty="0"/>
              <a:t>   = 80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to_port</a:t>
            </a:r>
            <a:r>
              <a:rPr lang="en-IN" sz="1600" dirty="0"/>
              <a:t>     = 80</a:t>
            </a:r>
          </a:p>
          <a:p>
            <a:r>
              <a:rPr lang="en-IN" sz="1600" dirty="0"/>
              <a:t>    protocol    = "</a:t>
            </a:r>
            <a:r>
              <a:rPr lang="en-IN" sz="1600" dirty="0" err="1"/>
              <a:t>tcp</a:t>
            </a:r>
            <a:r>
              <a:rPr lang="en-IN" sz="1600" dirty="0"/>
              <a:t>"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cidr_blocks</a:t>
            </a:r>
            <a:r>
              <a:rPr lang="en-IN" sz="1600" dirty="0"/>
              <a:t> = ["0.0.0.0/0"]</a:t>
            </a:r>
          </a:p>
          <a:p>
            <a:r>
              <a:rPr lang="en-IN" sz="1600" dirty="0"/>
              <a:t>  }</a:t>
            </a:r>
          </a:p>
          <a:p>
            <a:endParaRPr lang="en-IN" sz="1600" dirty="0"/>
          </a:p>
          <a:p>
            <a:r>
              <a:rPr lang="en-IN" sz="1600" dirty="0"/>
              <a:t>  ingress {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from_port</a:t>
            </a:r>
            <a:r>
              <a:rPr lang="en-IN" sz="1600" dirty="0"/>
              <a:t>   = 443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to_port</a:t>
            </a:r>
            <a:r>
              <a:rPr lang="en-IN" sz="1600" dirty="0"/>
              <a:t>     = 443</a:t>
            </a:r>
          </a:p>
          <a:p>
            <a:r>
              <a:rPr lang="en-IN" sz="1600" dirty="0"/>
              <a:t>    protocol    = "</a:t>
            </a:r>
            <a:r>
              <a:rPr lang="en-IN" sz="1600" dirty="0" err="1"/>
              <a:t>tcp</a:t>
            </a:r>
            <a:r>
              <a:rPr lang="en-IN" sz="1600" dirty="0"/>
              <a:t>"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cidr_blocks</a:t>
            </a:r>
            <a:r>
              <a:rPr lang="en-IN" sz="1600" dirty="0"/>
              <a:t> = ["0.0.0.0/0"]</a:t>
            </a:r>
          </a:p>
          <a:p>
            <a:r>
              <a:rPr lang="en-IN" sz="1600" dirty="0"/>
              <a:t>  }</a:t>
            </a:r>
          </a:p>
          <a:p>
            <a:endParaRPr lang="en-IN" sz="1600" dirty="0"/>
          </a:p>
          <a:p>
            <a:r>
              <a:rPr lang="en-IN" sz="1600" dirty="0"/>
              <a:t>  ingress {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from_port</a:t>
            </a:r>
            <a:r>
              <a:rPr lang="en-IN" sz="1600" dirty="0"/>
              <a:t>   = 22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to_port</a:t>
            </a:r>
            <a:r>
              <a:rPr lang="en-IN" sz="1600" dirty="0"/>
              <a:t>     = 22</a:t>
            </a:r>
          </a:p>
          <a:p>
            <a:r>
              <a:rPr lang="en-IN" sz="1600" dirty="0"/>
              <a:t>    protocol    = "</a:t>
            </a:r>
            <a:r>
              <a:rPr lang="en-IN" sz="1600" dirty="0" err="1"/>
              <a:t>tcp</a:t>
            </a:r>
            <a:r>
              <a:rPr lang="en-IN" sz="1600" dirty="0"/>
              <a:t>"</a:t>
            </a:r>
          </a:p>
          <a:p>
            <a:r>
              <a:rPr lang="en-IN" sz="1600" dirty="0"/>
              <a:t>    </a:t>
            </a:r>
            <a:r>
              <a:rPr lang="en-IN" sz="1600" dirty="0" err="1"/>
              <a:t>cidr_blocks</a:t>
            </a:r>
            <a:r>
              <a:rPr lang="en-IN" sz="1600" dirty="0"/>
              <a:t> = ["10.0.0.0/16"]</a:t>
            </a:r>
          </a:p>
          <a:p>
            <a:r>
              <a:rPr lang="en-IN" sz="1600" dirty="0"/>
              <a:t>  }</a:t>
            </a:r>
          </a:p>
          <a:p>
            <a:r>
              <a:rPr lang="en-IN" sz="16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3560CB-807C-6391-1B29-81205D2BDB4D}"/>
              </a:ext>
            </a:extLst>
          </p:cNvPr>
          <p:cNvSpPr txBox="1"/>
          <p:nvPr/>
        </p:nvSpPr>
        <p:spPr>
          <a:xfrm>
            <a:off x="290286" y="2521837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Normally, you write ingress rules like this: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D281F2-7E4C-9E33-F781-FA0AEA90AA5D}"/>
              </a:ext>
            </a:extLst>
          </p:cNvPr>
          <p:cNvSpPr txBox="1"/>
          <p:nvPr/>
        </p:nvSpPr>
        <p:spPr>
          <a:xfrm>
            <a:off x="29028" y="3078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Notice you're repeating the </a:t>
            </a:r>
            <a:r>
              <a:rPr lang="en-IN" b="1" dirty="0">
                <a:latin typeface="Courier New" panose="02070309020205020404" pitchFamily="49" charset="0"/>
              </a:rPr>
              <a:t>ingress</a:t>
            </a:r>
            <a:r>
              <a:rPr lang="en-IN" b="1" dirty="0"/>
              <a:t> block</a:t>
            </a:r>
            <a:r>
              <a:rPr lang="en-IN" dirty="0"/>
              <a:t> three times.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8E4055-57D9-F854-3351-FA08F855B6BA}"/>
              </a:ext>
            </a:extLst>
          </p:cNvPr>
          <p:cNvSpPr txBox="1"/>
          <p:nvPr/>
        </p:nvSpPr>
        <p:spPr>
          <a:xfrm>
            <a:off x="29028" y="3923274"/>
            <a:ext cx="6125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Imagine you need </a:t>
            </a:r>
            <a:r>
              <a:rPr lang="en-IN" b="1" dirty="0"/>
              <a:t>50 firewall rules</a:t>
            </a:r>
            <a:r>
              <a:rPr lang="en-IN" dirty="0"/>
              <a:t>. Writing them manually becomes tedious.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F7ABA7-B8AF-6873-6B59-193F8191C992}"/>
              </a:ext>
            </a:extLst>
          </p:cNvPr>
          <p:cNvSpPr txBox="1"/>
          <p:nvPr/>
        </p:nvSpPr>
        <p:spPr>
          <a:xfrm>
            <a:off x="166913" y="5195224"/>
            <a:ext cx="65386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Problems</a:t>
            </a:r>
          </a:p>
          <a:p>
            <a:pPr>
              <a:buNone/>
            </a:pPr>
            <a:r>
              <a:rPr lang="en-IN" dirty="0"/>
              <a:t>❌ Repeated code</a:t>
            </a:r>
          </a:p>
          <a:p>
            <a:pPr>
              <a:buNone/>
            </a:pPr>
            <a:r>
              <a:rPr lang="en-IN" dirty="0"/>
              <a:t>❌ Difficult to maintain</a:t>
            </a:r>
          </a:p>
          <a:p>
            <a:pPr>
              <a:buNone/>
            </a:pPr>
            <a:r>
              <a:rPr lang="en-IN" dirty="0"/>
              <a:t>❌ Adding a new rule means writing another </a:t>
            </a:r>
            <a:r>
              <a:rPr lang="en-IN" dirty="0">
                <a:latin typeface="Courier New" panose="02070309020205020404" pitchFamily="49" charset="0"/>
              </a:rPr>
              <a:t>ingress</a:t>
            </a:r>
            <a:r>
              <a:rPr lang="en-IN" dirty="0"/>
              <a:t> block</a:t>
            </a:r>
          </a:p>
        </p:txBody>
      </p:sp>
    </p:spTree>
    <p:extLst>
      <p:ext uri="{BB962C8B-B14F-4D97-AF65-F5344CB8AC3E}">
        <p14:creationId xmlns:p14="http://schemas.microsoft.com/office/powerpoint/2010/main" val="2270385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E390B5-D4BF-66E6-73E6-6D7D7DF3D483}"/>
              </a:ext>
            </a:extLst>
          </p:cNvPr>
          <p:cNvSpPr txBox="1"/>
          <p:nvPr/>
        </p:nvSpPr>
        <p:spPr>
          <a:xfrm>
            <a:off x="3947886" y="112876"/>
            <a:ext cx="4818743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Security Group with Dynamic Ingress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272BCF-6F7D-F326-45CB-6794EB7ED33E}"/>
              </a:ext>
            </a:extLst>
          </p:cNvPr>
          <p:cNvSpPr txBox="1"/>
          <p:nvPr/>
        </p:nvSpPr>
        <p:spPr>
          <a:xfrm>
            <a:off x="537027" y="1566319"/>
            <a:ext cx="4165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Variable</a:t>
            </a:r>
          </a:p>
          <a:p>
            <a:pPr>
              <a:buNone/>
            </a:pP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 "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ingress_rules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{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default = [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{ port = 80,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cidr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"0.0.0.0/0" },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{ port = 443,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cidr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"0.0.0.0/0" },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{ port = 22,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cidr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"10.0.0.0/16" }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]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83380-CAD3-A4CB-284E-ECB39838EEAB}"/>
              </a:ext>
            </a:extLst>
          </p:cNvPr>
          <p:cNvSpPr txBox="1"/>
          <p:nvPr/>
        </p:nvSpPr>
        <p:spPr>
          <a:xfrm>
            <a:off x="7663545" y="752009"/>
            <a:ext cx="399142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Block</a:t>
            </a:r>
          </a:p>
          <a:p>
            <a:pPr>
              <a:buNone/>
            </a:pP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"ingress" {</a:t>
            </a:r>
          </a:p>
          <a:p>
            <a:pPr rtl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for_each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var.ingress_rules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content {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from_port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ingress.value.port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to_port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=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ingress.value.port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protocol    = "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tcp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cidr_blocks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ingress.value.cidr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}</a:t>
            </a:r>
          </a:p>
          <a:p>
            <a:pPr rtl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055BA7-E3FA-C310-21F7-3D2C46A60004}"/>
              </a:ext>
            </a:extLst>
          </p:cNvPr>
          <p:cNvSpPr txBox="1"/>
          <p:nvPr/>
        </p:nvSpPr>
        <p:spPr>
          <a:xfrm>
            <a:off x="362857" y="5529439"/>
            <a:ext cx="10653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We wrote only one </a:t>
            </a:r>
            <a:r>
              <a:rPr lang="en-IN" dirty="0">
                <a:latin typeface="Courier New" panose="02070309020205020404" pitchFamily="49" charset="0"/>
              </a:rPr>
              <a:t>dynamic</a:t>
            </a:r>
            <a:r>
              <a:rPr lang="en-IN" dirty="0"/>
              <a:t> block, but Terraform generated three </a:t>
            </a:r>
            <a:r>
              <a:rPr lang="en-IN" dirty="0">
                <a:latin typeface="Courier New" panose="02070309020205020404" pitchFamily="49" charset="0"/>
              </a:rPr>
              <a:t>ingress</a:t>
            </a:r>
            <a:r>
              <a:rPr lang="en-IN" dirty="0"/>
              <a:t> blocks based on the input list.</a:t>
            </a:r>
          </a:p>
        </p:txBody>
      </p:sp>
    </p:spTree>
    <p:extLst>
      <p:ext uri="{BB962C8B-B14F-4D97-AF65-F5344CB8AC3E}">
        <p14:creationId xmlns:p14="http://schemas.microsoft.com/office/powerpoint/2010/main" val="87523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B5330C-68A0-A036-2D17-053295E4D1D6}"/>
              </a:ext>
            </a:extLst>
          </p:cNvPr>
          <p:cNvSpPr txBox="1"/>
          <p:nvPr/>
        </p:nvSpPr>
        <p:spPr>
          <a:xfrm>
            <a:off x="3447143" y="185447"/>
            <a:ext cx="5297714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b="1" dirty="0"/>
              <a:t>Dynamic vs </a:t>
            </a:r>
            <a:r>
              <a:rPr lang="en-IN" sz="2800" b="1" dirty="0" err="1"/>
              <a:t>for_each</a:t>
            </a:r>
            <a:r>
              <a:rPr lang="en-IN" sz="2800" b="1" dirty="0"/>
              <a:t> vs 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7BBCD-0824-9582-2EE9-E64CBC3940B5}"/>
              </a:ext>
            </a:extLst>
          </p:cNvPr>
          <p:cNvSpPr txBox="1"/>
          <p:nvPr/>
        </p:nvSpPr>
        <p:spPr>
          <a:xfrm>
            <a:off x="783770" y="1301820"/>
            <a:ext cx="71410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count</a:t>
            </a:r>
            <a:r>
              <a:rPr lang="en-IN" sz="2000" dirty="0"/>
              <a:t> → Multiple identical resources</a:t>
            </a:r>
          </a:p>
          <a:p>
            <a:pPr>
              <a:buNone/>
            </a:pPr>
            <a:r>
              <a:rPr lang="en-IN" sz="2000" dirty="0"/>
              <a:t>Ex.      count = 3</a:t>
            </a:r>
          </a:p>
          <a:p>
            <a:pPr>
              <a:buNone/>
            </a:pPr>
            <a:r>
              <a:rPr lang="en-IN" sz="2000" dirty="0"/>
              <a:t>➡ Creates </a:t>
            </a:r>
            <a:r>
              <a:rPr lang="en-IN" sz="2000" b="1" dirty="0"/>
              <a:t>3 EC2 instances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 err="1"/>
              <a:t>for_each</a:t>
            </a:r>
            <a:r>
              <a:rPr lang="en-IN" sz="2000" dirty="0"/>
              <a:t> → Multiple uniquely identified resources</a:t>
            </a:r>
          </a:p>
          <a:p>
            <a:pPr>
              <a:buNone/>
            </a:pPr>
            <a:r>
              <a:rPr lang="en-IN" sz="2000" dirty="0"/>
              <a:t>Ex.   </a:t>
            </a:r>
            <a:r>
              <a:rPr lang="en-IN" sz="2000" dirty="0" err="1"/>
              <a:t>for_each</a:t>
            </a:r>
            <a:r>
              <a:rPr lang="en-IN" sz="2000" dirty="0"/>
              <a:t> = </a:t>
            </a:r>
            <a:r>
              <a:rPr lang="en-IN" sz="2000" dirty="0" err="1"/>
              <a:t>var.servers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➡ Creates one EC2 per server</a:t>
            </a:r>
          </a:p>
          <a:p>
            <a:pPr>
              <a:buNone/>
            </a:pPr>
            <a:endParaRPr lang="en-IN" sz="2000" dirty="0"/>
          </a:p>
          <a:p>
            <a:pPr>
              <a:buNone/>
            </a:pPr>
            <a:endParaRPr lang="en-IN" sz="2000" dirty="0"/>
          </a:p>
          <a:p>
            <a:pPr>
              <a:buNone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dynamic</a:t>
            </a:r>
            <a:r>
              <a:rPr lang="en-IN" sz="2000" dirty="0"/>
              <a:t> → Multiple nested blocks inside a single resource</a:t>
            </a:r>
          </a:p>
          <a:p>
            <a:pPr>
              <a:buNone/>
            </a:pPr>
            <a:r>
              <a:rPr lang="en-IN" sz="2000" dirty="0"/>
              <a:t>Ex.    dynamic "ingress“</a:t>
            </a:r>
          </a:p>
          <a:p>
            <a:pPr>
              <a:buNone/>
            </a:pPr>
            <a:r>
              <a:rPr lang="en-IN" sz="2000" dirty="0"/>
              <a:t>➡ Creates multiple </a:t>
            </a:r>
            <a:r>
              <a:rPr lang="en-IN" sz="2000" b="1" dirty="0"/>
              <a:t>ingress blocks</a:t>
            </a:r>
            <a:r>
              <a:rPr lang="en-IN" sz="2000" dirty="0"/>
              <a:t> inside </a:t>
            </a:r>
            <a:r>
              <a:rPr lang="en-IN" sz="2000" b="1" dirty="0"/>
              <a:t>one Security Group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25837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6B3D635-ABD2-AEAD-0270-F09635D9B037}"/>
              </a:ext>
            </a:extLst>
          </p:cNvPr>
          <p:cNvSpPr txBox="1"/>
          <p:nvPr/>
        </p:nvSpPr>
        <p:spPr>
          <a:xfrm>
            <a:off x="4259943" y="0"/>
            <a:ext cx="3672114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Terraform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DCCEB-7FED-F120-CAB8-AF1CA4E835A5}"/>
              </a:ext>
            </a:extLst>
          </p:cNvPr>
          <p:cNvSpPr txBox="1"/>
          <p:nvPr/>
        </p:nvSpPr>
        <p:spPr>
          <a:xfrm>
            <a:off x="711201" y="748437"/>
            <a:ext cx="1165497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Definition: 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Terraform functions are </a:t>
            </a:r>
            <a:r>
              <a:rPr lang="en-IN" b="1" dirty="0"/>
              <a:t>built-in functions</a:t>
            </a:r>
            <a:r>
              <a:rPr lang="en-IN" dirty="0"/>
              <a:t> that transform, manipulate, or retrieve values in your Terraform configuration.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They help make your infrastructure code </a:t>
            </a:r>
            <a:r>
              <a:rPr lang="en-IN" b="1" dirty="0"/>
              <a:t>dynamic</a:t>
            </a:r>
            <a:r>
              <a:rPr lang="en-IN" dirty="0"/>
              <a:t>, </a:t>
            </a:r>
            <a:r>
              <a:rPr lang="en-IN" b="1" dirty="0"/>
              <a:t>reusable</a:t>
            </a:r>
            <a:r>
              <a:rPr lang="en-IN" dirty="0"/>
              <a:t>, and </a:t>
            </a:r>
            <a:r>
              <a:rPr lang="en-IN" b="1" dirty="0"/>
              <a:t>easier to maintain</a:t>
            </a:r>
            <a:r>
              <a:rPr lang="en-IN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614848-7FB8-37D6-6D02-47EFFCD42ED8}"/>
              </a:ext>
            </a:extLst>
          </p:cNvPr>
          <p:cNvSpPr txBox="1"/>
          <p:nvPr/>
        </p:nvSpPr>
        <p:spPr>
          <a:xfrm>
            <a:off x="478971" y="3198167"/>
            <a:ext cx="6183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Syntax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90C4DD-7B5A-76C5-7A20-9CDEAE57A6E7}"/>
              </a:ext>
            </a:extLst>
          </p:cNvPr>
          <p:cNvSpPr txBox="1"/>
          <p:nvPr/>
        </p:nvSpPr>
        <p:spPr>
          <a:xfrm>
            <a:off x="711201" y="3664856"/>
            <a:ext cx="618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function_name</a:t>
            </a:r>
            <a:r>
              <a:rPr lang="en-IN" dirty="0"/>
              <a:t>(argument1, argument2, ...)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F4D9CF-82B4-CE68-DCC9-1C695C4363B7}"/>
              </a:ext>
            </a:extLst>
          </p:cNvPr>
          <p:cNvSpPr txBox="1"/>
          <p:nvPr/>
        </p:nvSpPr>
        <p:spPr>
          <a:xfrm>
            <a:off x="478971" y="4394313"/>
            <a:ext cx="618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865993-121A-83F6-FAF6-7DA7B439394F}"/>
              </a:ext>
            </a:extLst>
          </p:cNvPr>
          <p:cNvSpPr txBox="1"/>
          <p:nvPr/>
        </p:nvSpPr>
        <p:spPr>
          <a:xfrm>
            <a:off x="711201" y="4734616"/>
            <a:ext cx="618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upper("terraform")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24EDD6-FD6B-5720-F25E-B1723240F5FF}"/>
              </a:ext>
            </a:extLst>
          </p:cNvPr>
          <p:cNvSpPr txBox="1"/>
          <p:nvPr/>
        </p:nvSpPr>
        <p:spPr>
          <a:xfrm>
            <a:off x="478971" y="5449275"/>
            <a:ext cx="618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Output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258FD9-115C-C62E-9555-0E3CF0584C85}"/>
              </a:ext>
            </a:extLst>
          </p:cNvPr>
          <p:cNvSpPr txBox="1"/>
          <p:nvPr/>
        </p:nvSpPr>
        <p:spPr>
          <a:xfrm>
            <a:off x="478971" y="5924897"/>
            <a:ext cx="6183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TERRAFORM</a:t>
            </a:r>
          </a:p>
        </p:txBody>
      </p:sp>
    </p:spTree>
    <p:extLst>
      <p:ext uri="{BB962C8B-B14F-4D97-AF65-F5344CB8AC3E}">
        <p14:creationId xmlns:p14="http://schemas.microsoft.com/office/powerpoint/2010/main" val="248897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66A0E1A-D894-22A8-DAB7-7A371040A6EF}"/>
              </a:ext>
            </a:extLst>
          </p:cNvPr>
          <p:cNvSpPr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Common Terraform Functions</a:t>
            </a:r>
            <a:endParaRPr lang="en-US" sz="30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AD4BA14E-46A5-A65A-346B-B7691982B95F}"/>
              </a:ext>
            </a:extLst>
          </p:cNvPr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quick-reference guide to the functions used in real Terraform projects</a:t>
            </a:r>
            <a:endParaRPr lang="en-US" sz="14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776015F-A1D3-765E-C1A2-81279E1FF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170960"/>
              </p:ext>
            </p:extLst>
          </p:nvPr>
        </p:nvGraphicFramePr>
        <p:xfrm>
          <a:off x="457200" y="1508760"/>
          <a:ext cx="11247120" cy="4663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1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1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1A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1A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list 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length(["web","db"])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list into 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join("-",["web","dev"])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web-dev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split()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string into 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split(",", "a,b,c")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["a","b","c"]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value from a map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lookup(var.types,"prod","t3.micro")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t3.large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upper()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to uppercase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upper("prod")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file("userdata.sh")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File contents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jsonencode()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HCL to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jsonencode({...})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 string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13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UTC timestamp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C2A8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2026-07-18T10:30:00Z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085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>
            <a:extLst>
              <a:ext uri="{FF2B5EF4-FFF2-40B4-BE49-F238E27FC236}">
                <a16:creationId xmlns:a16="http://schemas.microsoft.com/office/drawing/2014/main" id="{A81B4218-2BB7-2A8D-FEF6-77DC1A825E04}"/>
              </a:ext>
            </a:extLst>
          </p:cNvPr>
          <p:cNvSpPr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3000" dirty="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0CC6FA0C-9AF7-E95B-199D-233C80A17E26}"/>
              </a:ext>
            </a:extLst>
          </p:cNvPr>
          <p:cNvSpPr/>
          <p:nvPr/>
        </p:nvSpPr>
        <p:spPr>
          <a:xfrm>
            <a:off x="457200" y="96012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A75FF392-5B5A-7458-DB52-B3287375B350}"/>
              </a:ext>
            </a:extLst>
          </p:cNvPr>
          <p:cNvSpPr/>
          <p:nvPr/>
        </p:nvSpPr>
        <p:spPr>
          <a:xfrm>
            <a:off x="685800" y="96012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  </a:t>
            </a: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 EC2 instance based on the selected environment.</a:t>
            </a:r>
            <a:endParaRPr lang="en-US" sz="1200" dirty="0"/>
          </a:p>
        </p:txBody>
      </p:sp>
      <p:sp>
        <p:nvSpPr>
          <p:cNvPr id="47" name="Shape 3">
            <a:extLst>
              <a:ext uri="{FF2B5EF4-FFF2-40B4-BE49-F238E27FC236}">
                <a16:creationId xmlns:a16="http://schemas.microsoft.com/office/drawing/2014/main" id="{93446B18-A7F2-0944-0F33-4B2F72596A3B}"/>
              </a:ext>
            </a:extLst>
          </p:cNvPr>
          <p:cNvSpPr/>
          <p:nvPr/>
        </p:nvSpPr>
        <p:spPr>
          <a:xfrm>
            <a:off x="457200" y="1737360"/>
            <a:ext cx="6720840" cy="4892040"/>
          </a:xfrm>
          <a:prstGeom prst="roundRect">
            <a:avLst>
              <a:gd name="adj" fmla="val 1495"/>
            </a:avLst>
          </a:prstGeom>
          <a:solidFill>
            <a:srgbClr val="301A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">
            <a:extLst>
              <a:ext uri="{FF2B5EF4-FFF2-40B4-BE49-F238E27FC236}">
                <a16:creationId xmlns:a16="http://schemas.microsoft.com/office/drawing/2014/main" id="{3F0BDD69-D373-04FE-AA5E-7C69AC97CB73}"/>
              </a:ext>
            </a:extLst>
          </p:cNvPr>
          <p:cNvSpPr/>
          <p:nvPr/>
        </p:nvSpPr>
        <p:spPr>
          <a:xfrm>
            <a:off x="685800" y="1874520"/>
            <a:ext cx="630936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"environment" {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"prod"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"instance_types" {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{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  = "t3.micro"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qa   = "t3.small"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 = "t3.large"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lookup(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var.instance_types,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var.environment, "t3.micro"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instance_name = upper(join("-", [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"payment", var.environment, "01"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1686B56D-FC46-E4D5-D018-F1E89FD67726}"/>
              </a:ext>
            </a:extLst>
          </p:cNvPr>
          <p:cNvSpPr/>
          <p:nvPr/>
        </p:nvSpPr>
        <p:spPr>
          <a:xfrm>
            <a:off x="740664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53" name="Shape 6">
            <a:extLst>
              <a:ext uri="{FF2B5EF4-FFF2-40B4-BE49-F238E27FC236}">
                <a16:creationId xmlns:a16="http://schemas.microsoft.com/office/drawing/2014/main" id="{6C235B42-D39E-C72C-9E3B-DB45E2846ADB}"/>
              </a:ext>
            </a:extLst>
          </p:cNvPr>
          <p:cNvSpPr/>
          <p:nvPr/>
        </p:nvSpPr>
        <p:spPr>
          <a:xfrm>
            <a:off x="7406640" y="224028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1ACFB232-27E8-90FB-5BF6-C4D9FE1A9486}"/>
              </a:ext>
            </a:extLst>
          </p:cNvPr>
          <p:cNvSpPr/>
          <p:nvPr/>
        </p:nvSpPr>
        <p:spPr>
          <a:xfrm>
            <a:off x="7635240" y="2377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2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lookup()</a:t>
            </a:r>
            <a:endParaRPr lang="en-US" sz="1400" dirty="0"/>
          </a:p>
        </p:txBody>
      </p:sp>
      <p:sp>
        <p:nvSpPr>
          <p:cNvPr id="57" name="Shape 8">
            <a:extLst>
              <a:ext uri="{FF2B5EF4-FFF2-40B4-BE49-F238E27FC236}">
                <a16:creationId xmlns:a16="http://schemas.microsoft.com/office/drawing/2014/main" id="{B0D748CC-AC7F-3811-B424-307BFB304C6A}"/>
              </a:ext>
            </a:extLst>
          </p:cNvPr>
          <p:cNvSpPr/>
          <p:nvPr/>
        </p:nvSpPr>
        <p:spPr>
          <a:xfrm>
            <a:off x="7635240" y="2807208"/>
            <a:ext cx="3840480" cy="0"/>
          </a:xfrm>
          <a:prstGeom prst="line">
            <a:avLst/>
          </a:prstGeom>
          <a:noFill/>
          <a:ln w="12700">
            <a:solidFill>
              <a:srgbClr val="DD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06D30470-B44E-100F-364E-550F428F7564}"/>
              </a:ext>
            </a:extLst>
          </p:cNvPr>
          <p:cNvSpPr/>
          <p:nvPr/>
        </p:nvSpPr>
        <p:spPr>
          <a:xfrm>
            <a:off x="7635240" y="28986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t3.large</a:t>
            </a:r>
            <a:endParaRPr lang="en-US" sz="1500" dirty="0"/>
          </a:p>
        </p:txBody>
      </p:sp>
      <p:sp>
        <p:nvSpPr>
          <p:cNvPr id="61" name="Shape 10">
            <a:extLst>
              <a:ext uri="{FF2B5EF4-FFF2-40B4-BE49-F238E27FC236}">
                <a16:creationId xmlns:a16="http://schemas.microsoft.com/office/drawing/2014/main" id="{14819A31-5925-4174-1394-24413719207A}"/>
              </a:ext>
            </a:extLst>
          </p:cNvPr>
          <p:cNvSpPr/>
          <p:nvPr/>
        </p:nvSpPr>
        <p:spPr>
          <a:xfrm>
            <a:off x="7406640" y="36576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11">
            <a:extLst>
              <a:ext uri="{FF2B5EF4-FFF2-40B4-BE49-F238E27FC236}">
                <a16:creationId xmlns:a16="http://schemas.microsoft.com/office/drawing/2014/main" id="{2D9A9A62-8E2B-8E25-9B60-C7265EB57ECA}"/>
              </a:ext>
            </a:extLst>
          </p:cNvPr>
          <p:cNvSpPr/>
          <p:nvPr/>
        </p:nvSpPr>
        <p:spPr>
          <a:xfrm>
            <a:off x="763524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2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join()</a:t>
            </a:r>
            <a:endParaRPr lang="en-US" sz="1400" dirty="0"/>
          </a:p>
        </p:txBody>
      </p:sp>
      <p:sp>
        <p:nvSpPr>
          <p:cNvPr id="65" name="Shape 12">
            <a:extLst>
              <a:ext uri="{FF2B5EF4-FFF2-40B4-BE49-F238E27FC236}">
                <a16:creationId xmlns:a16="http://schemas.microsoft.com/office/drawing/2014/main" id="{E7FF4978-DB65-6B41-244C-9ACBE16BB94F}"/>
              </a:ext>
            </a:extLst>
          </p:cNvPr>
          <p:cNvSpPr/>
          <p:nvPr/>
        </p:nvSpPr>
        <p:spPr>
          <a:xfrm>
            <a:off x="7635240" y="4224528"/>
            <a:ext cx="3840480" cy="0"/>
          </a:xfrm>
          <a:prstGeom prst="line">
            <a:avLst/>
          </a:prstGeom>
          <a:noFill/>
          <a:ln w="12700">
            <a:solidFill>
              <a:srgbClr val="DD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E6B44299-E628-E5F2-126F-5A6F5A9A32FF}"/>
              </a:ext>
            </a:extLst>
          </p:cNvPr>
          <p:cNvSpPr/>
          <p:nvPr/>
        </p:nvSpPr>
        <p:spPr>
          <a:xfrm>
            <a:off x="763524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payment-prod-01</a:t>
            </a:r>
            <a:endParaRPr lang="en-US" sz="1500" dirty="0"/>
          </a:p>
        </p:txBody>
      </p:sp>
      <p:sp>
        <p:nvSpPr>
          <p:cNvPr id="69" name="Shape 14">
            <a:extLst>
              <a:ext uri="{FF2B5EF4-FFF2-40B4-BE49-F238E27FC236}">
                <a16:creationId xmlns:a16="http://schemas.microsoft.com/office/drawing/2014/main" id="{E50FAFBE-8B1D-2F9C-2D05-CF5C3E69FF3C}"/>
              </a:ext>
            </a:extLst>
          </p:cNvPr>
          <p:cNvSpPr/>
          <p:nvPr/>
        </p:nvSpPr>
        <p:spPr>
          <a:xfrm>
            <a:off x="7406640" y="507492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53FEC64D-D256-D815-E304-0BDE78428BE5}"/>
              </a:ext>
            </a:extLst>
          </p:cNvPr>
          <p:cNvSpPr/>
          <p:nvPr/>
        </p:nvSpPr>
        <p:spPr>
          <a:xfrm>
            <a:off x="7635240" y="5212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2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upper()</a:t>
            </a:r>
            <a:endParaRPr lang="en-US" sz="1400" dirty="0"/>
          </a:p>
        </p:txBody>
      </p:sp>
      <p:sp>
        <p:nvSpPr>
          <p:cNvPr id="73" name="Shape 16">
            <a:extLst>
              <a:ext uri="{FF2B5EF4-FFF2-40B4-BE49-F238E27FC236}">
                <a16:creationId xmlns:a16="http://schemas.microsoft.com/office/drawing/2014/main" id="{C039AE1B-E6B2-78D1-7678-C880C35C294B}"/>
              </a:ext>
            </a:extLst>
          </p:cNvPr>
          <p:cNvSpPr/>
          <p:nvPr/>
        </p:nvSpPr>
        <p:spPr>
          <a:xfrm>
            <a:off x="7635240" y="5641848"/>
            <a:ext cx="3840480" cy="0"/>
          </a:xfrm>
          <a:prstGeom prst="line">
            <a:avLst/>
          </a:prstGeom>
          <a:noFill/>
          <a:ln w="12700">
            <a:solidFill>
              <a:srgbClr val="DDD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9584205C-2B56-25C3-C665-C11B8F9984EB}"/>
              </a:ext>
            </a:extLst>
          </p:cNvPr>
          <p:cNvSpPr/>
          <p:nvPr/>
        </p:nvSpPr>
        <p:spPr>
          <a:xfrm>
            <a:off x="7635240" y="5733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13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PAYMENT-PROD-01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67958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B8F38258-EB90-4675-4698-A1F7B77D64D3}"/>
              </a:ext>
            </a:extLst>
          </p:cNvPr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Lifecycle Rules</a:t>
            </a:r>
            <a:endParaRPr lang="en-US" sz="27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BB78901-2EBB-3DED-EADB-9416A46F4C30}"/>
              </a:ext>
            </a:extLst>
          </p:cNvPr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Lifecycle Rules?</a:t>
            </a:r>
            <a:endParaRPr lang="en-US" sz="14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4840449-C1FF-96D0-62C4-FC06056A0537}"/>
              </a:ext>
            </a:extLst>
          </p:cNvPr>
          <p:cNvSpPr/>
          <p:nvPr/>
        </p:nvSpPr>
        <p:spPr>
          <a:xfrm>
            <a:off x="457200" y="1508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C3ECE90-21D8-3026-7407-8FCB6FDACE3F}"/>
              </a:ext>
            </a:extLst>
          </p:cNvPr>
          <p:cNvSpPr/>
          <p:nvPr/>
        </p:nvSpPr>
        <p:spPr>
          <a:xfrm>
            <a:off x="457200" y="1810512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Lifecycle Rules let you control how Terraform creates, updates, or destroys resources — helping prevent accidental deletions, minimize downtime, and manage infrastructure changes safely.</a:t>
            </a:r>
            <a:endParaRPr lang="en-US" sz="1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9CEC837-131D-D4BC-CBAE-4C40CFE206B5}"/>
              </a:ext>
            </a:extLst>
          </p:cNvPr>
          <p:cNvSpPr/>
          <p:nvPr/>
        </p:nvSpPr>
        <p:spPr>
          <a:xfrm>
            <a:off x="457200" y="3108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LIFECYCLE RULES?</a:t>
            </a:r>
            <a:endParaRPr lang="en-US" sz="105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9D6D8F2F-46EC-23A6-807B-FF0760DC9766}"/>
              </a:ext>
            </a:extLst>
          </p:cNvPr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DDF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EB407835-FB21-71DD-97D6-520364A24C14}"/>
              </a:ext>
            </a:extLst>
          </p:cNvPr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81BB361-07E4-D7AC-EE04-BB542B85FC7E}"/>
              </a:ext>
            </a:extLst>
          </p:cNvPr>
          <p:cNvSpPr/>
          <p:nvPr/>
        </p:nvSpPr>
        <p:spPr>
          <a:xfrm>
            <a:off x="960120" y="345643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accidental deletion</a:t>
            </a:r>
            <a:endParaRPr lang="en-US" sz="13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74183D20-4D66-A1D6-ADBF-D6B6C0BCF3B6}"/>
              </a:ext>
            </a:extLst>
          </p:cNvPr>
          <p:cNvSpPr/>
          <p:nvPr/>
        </p:nvSpPr>
        <p:spPr>
          <a:xfrm>
            <a:off x="457200" y="4133088"/>
            <a:ext cx="365760" cy="365760"/>
          </a:xfrm>
          <a:prstGeom prst="ellipse">
            <a:avLst/>
          </a:prstGeom>
          <a:solidFill>
            <a:srgbClr val="DDF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7336E8A-EDDF-FF5A-EA43-9766BEBADFF0}"/>
              </a:ext>
            </a:extLst>
          </p:cNvPr>
          <p:cNvSpPr/>
          <p:nvPr/>
        </p:nvSpPr>
        <p:spPr>
          <a:xfrm>
            <a:off x="457200" y="4133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2C3EDA31-82D0-2018-5097-EC1F82CA384E}"/>
              </a:ext>
            </a:extLst>
          </p:cNvPr>
          <p:cNvSpPr/>
          <p:nvPr/>
        </p:nvSpPr>
        <p:spPr>
          <a:xfrm>
            <a:off x="960120" y="411480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downtime during updates</a:t>
            </a:r>
            <a:endParaRPr lang="en-US" sz="13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C6CD6E72-FF12-59F2-B48D-36DD504F64F7}"/>
              </a:ext>
            </a:extLst>
          </p:cNvPr>
          <p:cNvSpPr/>
          <p:nvPr/>
        </p:nvSpPr>
        <p:spPr>
          <a:xfrm>
            <a:off x="457200" y="4791456"/>
            <a:ext cx="365760" cy="365760"/>
          </a:xfrm>
          <a:prstGeom prst="ellipse">
            <a:avLst/>
          </a:prstGeom>
          <a:solidFill>
            <a:srgbClr val="DDF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473281A0-8807-6149-7503-D55B90BF9609}"/>
              </a:ext>
            </a:extLst>
          </p:cNvPr>
          <p:cNvSpPr/>
          <p:nvPr/>
        </p:nvSpPr>
        <p:spPr>
          <a:xfrm>
            <a:off x="457200" y="4791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3CD68F5E-5451-B74B-40F3-09E80C404BEF}"/>
              </a:ext>
            </a:extLst>
          </p:cNvPr>
          <p:cNvSpPr/>
          <p:nvPr/>
        </p:nvSpPr>
        <p:spPr>
          <a:xfrm>
            <a:off x="960120" y="4773168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externally managed changes</a:t>
            </a:r>
            <a:endParaRPr lang="en-US" sz="130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1421DAC0-0FE9-1697-82B0-3918D0B1D41C}"/>
              </a:ext>
            </a:extLst>
          </p:cNvPr>
          <p:cNvSpPr/>
          <p:nvPr/>
        </p:nvSpPr>
        <p:spPr>
          <a:xfrm>
            <a:off x="457200" y="5449824"/>
            <a:ext cx="365760" cy="365760"/>
          </a:xfrm>
          <a:prstGeom prst="ellipse">
            <a:avLst/>
          </a:prstGeom>
          <a:solidFill>
            <a:srgbClr val="DDF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3C9F4A9F-E51F-919C-E650-07B120181F30}"/>
              </a:ext>
            </a:extLst>
          </p:cNvPr>
          <p:cNvSpPr/>
          <p:nvPr/>
        </p:nvSpPr>
        <p:spPr>
          <a:xfrm>
            <a:off x="45720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E0579866-058A-7203-45FA-D93AA19904D0}"/>
              </a:ext>
            </a:extLst>
          </p:cNvPr>
          <p:cNvSpPr/>
          <p:nvPr/>
        </p:nvSpPr>
        <p:spPr>
          <a:xfrm>
            <a:off x="960120" y="543153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resource replacement when dependencies change</a:t>
            </a:r>
            <a:endParaRPr lang="en-US" sz="13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115C79E0-102C-3460-D493-DE0473ABCBAB}"/>
              </a:ext>
            </a:extLst>
          </p:cNvPr>
          <p:cNvSpPr/>
          <p:nvPr/>
        </p:nvSpPr>
        <p:spPr>
          <a:xfrm>
            <a:off x="6263640" y="150876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50" dirty="0"/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6B17C00B-3385-5BF1-6CEE-FA1C246A2D5C}"/>
              </a:ext>
            </a:extLst>
          </p:cNvPr>
          <p:cNvSpPr/>
          <p:nvPr/>
        </p:nvSpPr>
        <p:spPr>
          <a:xfrm>
            <a:off x="6263640" y="1810512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301A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19">
            <a:extLst>
              <a:ext uri="{FF2B5EF4-FFF2-40B4-BE49-F238E27FC236}">
                <a16:creationId xmlns:a16="http://schemas.microsoft.com/office/drawing/2014/main" id="{CC8E213F-18AF-D525-B63A-5FFA86CAEF21}"/>
              </a:ext>
            </a:extLst>
          </p:cNvPr>
          <p:cNvSpPr/>
          <p:nvPr/>
        </p:nvSpPr>
        <p:spPr>
          <a:xfrm>
            <a:off x="6464808" y="3310128"/>
            <a:ext cx="5038344" cy="841248"/>
          </a:xfrm>
          <a:prstGeom prst="roundRect">
            <a:avLst>
              <a:gd name="adj" fmla="val 5435"/>
            </a:avLst>
          </a:prstGeom>
          <a:solidFill>
            <a:srgbClr val="4529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51491326-B1FA-22EF-609D-2B986ACFFBAE}"/>
              </a:ext>
            </a:extLst>
          </p:cNvPr>
          <p:cNvSpPr/>
          <p:nvPr/>
        </p:nvSpPr>
        <p:spPr>
          <a:xfrm>
            <a:off x="6675120" y="2011680"/>
            <a:ext cx="4617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"ami-123456"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"t3.micro"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lifecycle {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create_before_destroy = true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57974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E2FE5F61-92B2-5F79-4496-A1CCDFF6E17B}"/>
              </a:ext>
            </a:extLst>
          </p:cNvPr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create_before_destroy &amp; prevent_destroy</a:t>
            </a:r>
            <a:endParaRPr lang="en-US" sz="27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2967000-EA80-D1A5-B5E0-258133FF1333}"/>
              </a:ext>
            </a:extLst>
          </p:cNvPr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2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create_before_destroy</a:t>
            </a:r>
            <a:endParaRPr lang="en-US" sz="16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6F88799-0D54-1870-7F0A-14DA02C0CC91}"/>
              </a:ext>
            </a:extLst>
          </p:cNvPr>
          <p:cNvSpPr/>
          <p:nvPr/>
        </p:nvSpPr>
        <p:spPr>
          <a:xfrm>
            <a:off x="457200" y="1536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UPDATING AN AMI NORMALLY CAUSES</a:t>
            </a:r>
            <a:endParaRPr lang="en-US" sz="105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01A687A8-7E1D-38FE-FA2D-DD048D34B9D5}"/>
              </a:ext>
            </a:extLst>
          </p:cNvPr>
          <p:cNvSpPr/>
          <p:nvPr/>
        </p:nvSpPr>
        <p:spPr>
          <a:xfrm>
            <a:off x="457200" y="181051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C827C857-4C1D-9A2C-46BE-B1A275B9EA38}"/>
              </a:ext>
            </a:extLst>
          </p:cNvPr>
          <p:cNvSpPr/>
          <p:nvPr/>
        </p:nvSpPr>
        <p:spPr>
          <a:xfrm>
            <a:off x="457200" y="1810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EC2</a:t>
            </a:r>
            <a:endParaRPr lang="en-US" sz="10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CB2ADE9-0A54-466E-861E-987F25B26EBF}"/>
              </a:ext>
            </a:extLst>
          </p:cNvPr>
          <p:cNvSpPr/>
          <p:nvPr/>
        </p:nvSpPr>
        <p:spPr>
          <a:xfrm>
            <a:off x="1874520" y="18105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89F3629B-3279-35A2-0183-11FF23A6F193}"/>
              </a:ext>
            </a:extLst>
          </p:cNvPr>
          <p:cNvSpPr/>
          <p:nvPr/>
        </p:nvSpPr>
        <p:spPr>
          <a:xfrm>
            <a:off x="2194560" y="181051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B7784F5C-EFEF-D23E-EEA2-C55DFC4276E0}"/>
              </a:ext>
            </a:extLst>
          </p:cNvPr>
          <p:cNvSpPr/>
          <p:nvPr/>
        </p:nvSpPr>
        <p:spPr>
          <a:xfrm>
            <a:off x="2194560" y="1810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10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BCA97A14-861C-B033-8908-11847D2DEA5E}"/>
              </a:ext>
            </a:extLst>
          </p:cNvPr>
          <p:cNvSpPr/>
          <p:nvPr/>
        </p:nvSpPr>
        <p:spPr>
          <a:xfrm>
            <a:off x="3611880" y="181051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0589F85C-7BD9-E90B-86A1-EC6A4F584866}"/>
              </a:ext>
            </a:extLst>
          </p:cNvPr>
          <p:cNvSpPr/>
          <p:nvPr/>
        </p:nvSpPr>
        <p:spPr>
          <a:xfrm>
            <a:off x="3931920" y="181051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68078021-AD1B-DD83-EBA3-1AAF950F8DF4}"/>
              </a:ext>
            </a:extLst>
          </p:cNvPr>
          <p:cNvSpPr/>
          <p:nvPr/>
        </p:nvSpPr>
        <p:spPr>
          <a:xfrm>
            <a:off x="3931920" y="18105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EC2</a:t>
            </a:r>
            <a:endParaRPr lang="en-US" sz="105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6085B0A5-61F9-E79C-86E5-5836976BE04F}"/>
              </a:ext>
            </a:extLst>
          </p:cNvPr>
          <p:cNvSpPr/>
          <p:nvPr/>
        </p:nvSpPr>
        <p:spPr>
          <a:xfrm>
            <a:off x="457200" y="23774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A9243C7C-9409-B196-2DCB-3227100707E8}"/>
              </a:ext>
            </a:extLst>
          </p:cNvPr>
          <p:cNvSpPr/>
          <p:nvPr/>
        </p:nvSpPr>
        <p:spPr>
          <a:xfrm>
            <a:off x="457200" y="2377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Downtime</a:t>
            </a:r>
            <a:endParaRPr lang="en-US" sz="115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50801D47-8ED9-45F4-D7CB-E642E33479DE}"/>
              </a:ext>
            </a:extLst>
          </p:cNvPr>
          <p:cNvSpPr/>
          <p:nvPr/>
        </p:nvSpPr>
        <p:spPr>
          <a:xfrm>
            <a:off x="457200" y="29077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50" dirty="0"/>
          </a:p>
        </p:txBody>
      </p:sp>
      <p:sp>
        <p:nvSpPr>
          <p:cNvPr id="33" name="Shape 14">
            <a:extLst>
              <a:ext uri="{FF2B5EF4-FFF2-40B4-BE49-F238E27FC236}">
                <a16:creationId xmlns:a16="http://schemas.microsoft.com/office/drawing/2014/main" id="{08399840-EB80-A76C-5662-98F20EC52213}"/>
              </a:ext>
            </a:extLst>
          </p:cNvPr>
          <p:cNvSpPr/>
          <p:nvPr/>
        </p:nvSpPr>
        <p:spPr>
          <a:xfrm>
            <a:off x="457200" y="320040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2A18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5D3EF8D2-D5EA-7A4F-E568-0ADB28C9D6D2}"/>
              </a:ext>
            </a:extLst>
          </p:cNvPr>
          <p:cNvSpPr/>
          <p:nvPr/>
        </p:nvSpPr>
        <p:spPr>
          <a:xfrm>
            <a:off x="658368" y="3328416"/>
            <a:ext cx="50840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 {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create_before_destroy = true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BA96E0C-4840-C4E3-6418-9D0A4B155B6A}"/>
              </a:ext>
            </a:extLst>
          </p:cNvPr>
          <p:cNvSpPr/>
          <p:nvPr/>
        </p:nvSpPr>
        <p:spPr>
          <a:xfrm>
            <a:off x="457200" y="43616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6C5C27B0-1E46-2952-C317-EE0165061321}"/>
              </a:ext>
            </a:extLst>
          </p:cNvPr>
          <p:cNvSpPr/>
          <p:nvPr/>
        </p:nvSpPr>
        <p:spPr>
          <a:xfrm>
            <a:off x="457200" y="465429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1B1B57FE-5ED7-886B-EB36-A1742BD14944}"/>
              </a:ext>
            </a:extLst>
          </p:cNvPr>
          <p:cNvSpPr/>
          <p:nvPr/>
        </p:nvSpPr>
        <p:spPr>
          <a:xfrm>
            <a:off x="457200" y="465429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EC2</a:t>
            </a:r>
            <a:endParaRPr lang="en-US" sz="105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488A021B-9EA3-D61F-28A2-E08F30026322}"/>
              </a:ext>
            </a:extLst>
          </p:cNvPr>
          <p:cNvSpPr/>
          <p:nvPr/>
        </p:nvSpPr>
        <p:spPr>
          <a:xfrm>
            <a:off x="1874520" y="46542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947C2D5A-EF76-0B38-0DB5-3F8C2310B43D}"/>
              </a:ext>
            </a:extLst>
          </p:cNvPr>
          <p:cNvSpPr/>
          <p:nvPr/>
        </p:nvSpPr>
        <p:spPr>
          <a:xfrm>
            <a:off x="2331720" y="4654296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8FD5DAA0-AF9E-5181-85E2-BA1EBD09B30B}"/>
              </a:ext>
            </a:extLst>
          </p:cNvPr>
          <p:cNvSpPr/>
          <p:nvPr/>
        </p:nvSpPr>
        <p:spPr>
          <a:xfrm>
            <a:off x="2331720" y="465429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EC2</a:t>
            </a:r>
            <a:endParaRPr lang="en-US" sz="105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AAFCB448-58C8-C349-A363-E8C3B1252140}"/>
              </a:ext>
            </a:extLst>
          </p:cNvPr>
          <p:cNvSpPr/>
          <p:nvPr/>
        </p:nvSpPr>
        <p:spPr>
          <a:xfrm>
            <a:off x="45720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→  Health Check  →  Delete Old EC2</a:t>
            </a:r>
            <a:endParaRPr lang="en-US" sz="1100" dirty="0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262841A6-150D-A53B-8F98-F438F0AEDA3F}"/>
              </a:ext>
            </a:extLst>
          </p:cNvPr>
          <p:cNvSpPr/>
          <p:nvPr/>
        </p:nvSpPr>
        <p:spPr>
          <a:xfrm>
            <a:off x="457200" y="5477256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A4BDDE3E-0AF3-85AF-B071-AAF864D3EF02}"/>
              </a:ext>
            </a:extLst>
          </p:cNvPr>
          <p:cNvSpPr/>
          <p:nvPr/>
        </p:nvSpPr>
        <p:spPr>
          <a:xfrm>
            <a:off x="457200" y="547725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/ Minimal Downtime</a:t>
            </a:r>
            <a:endParaRPr lang="en-US" sz="1150" dirty="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D905AE0A-44E4-5B73-8D8B-92DC84D3813A}"/>
              </a:ext>
            </a:extLst>
          </p:cNvPr>
          <p:cNvSpPr/>
          <p:nvPr/>
        </p:nvSpPr>
        <p:spPr>
          <a:xfrm>
            <a:off x="457200" y="5961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updating production web servers behind an AWS Load Balancer.</a:t>
            </a:r>
            <a:endParaRPr lang="en-US" sz="11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F44690C7-49AB-906E-77A0-CC0DA74271C1}"/>
              </a:ext>
            </a:extLst>
          </p:cNvPr>
          <p:cNvSpPr/>
          <p:nvPr/>
        </p:nvSpPr>
        <p:spPr>
          <a:xfrm>
            <a:off x="6263640" y="109728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2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prevent_destroy</a:t>
            </a:r>
            <a:endParaRPr lang="en-US" sz="160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4C2F574E-5525-32DF-A63E-7BAD72D00949}"/>
              </a:ext>
            </a:extLst>
          </p:cNvPr>
          <p:cNvSpPr/>
          <p:nvPr/>
        </p:nvSpPr>
        <p:spPr>
          <a:xfrm>
            <a:off x="6263640" y="1481328"/>
            <a:ext cx="5440680" cy="1508760"/>
          </a:xfrm>
          <a:prstGeom prst="roundRect">
            <a:avLst>
              <a:gd name="adj" fmla="val 3636"/>
            </a:avLst>
          </a:prstGeom>
          <a:solidFill>
            <a:srgbClr val="2A18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D7A30680-B24F-BEC9-4D81-C7781E41D712}"/>
              </a:ext>
            </a:extLst>
          </p:cNvPr>
          <p:cNvSpPr/>
          <p:nvPr/>
        </p:nvSpPr>
        <p:spPr>
          <a:xfrm>
            <a:off x="6464808" y="1609344"/>
            <a:ext cx="50383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"aws_db_instance" "prod" {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lifecycle {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prevent_destroy = true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96C8CDA9-1567-031B-E53A-D454EE6AF343}"/>
              </a:ext>
            </a:extLst>
          </p:cNvPr>
          <p:cNvSpPr/>
          <p:nvPr/>
        </p:nvSpPr>
        <p:spPr>
          <a:xfrm>
            <a:off x="6263640" y="312724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RUNS</a:t>
            </a:r>
            <a:endParaRPr lang="en-US" sz="105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2608C14F-CB34-0821-2A28-3E05A130EA5C}"/>
              </a:ext>
            </a:extLst>
          </p:cNvPr>
          <p:cNvSpPr/>
          <p:nvPr/>
        </p:nvSpPr>
        <p:spPr>
          <a:xfrm>
            <a:off x="6263640" y="3401568"/>
            <a:ext cx="2743200" cy="411480"/>
          </a:xfrm>
          <a:prstGeom prst="roundRect">
            <a:avLst>
              <a:gd name="adj" fmla="val 13333"/>
            </a:avLst>
          </a:prstGeom>
          <a:solidFill>
            <a:srgbClr val="2A18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E8925C85-0C3A-954F-5C3D-2BE939357538}"/>
              </a:ext>
            </a:extLst>
          </p:cNvPr>
          <p:cNvSpPr/>
          <p:nvPr/>
        </p:nvSpPr>
        <p:spPr>
          <a:xfrm>
            <a:off x="6464808" y="3529584"/>
            <a:ext cx="23408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</a:t>
            </a:r>
            <a:endParaRPr lang="en-US" sz="125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4BDB7D21-BFA1-5787-301F-FDF754538CF1}"/>
              </a:ext>
            </a:extLst>
          </p:cNvPr>
          <p:cNvSpPr/>
          <p:nvPr/>
        </p:nvSpPr>
        <p:spPr>
          <a:xfrm>
            <a:off x="6263640" y="395935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RESPONDS</a:t>
            </a:r>
            <a:endParaRPr lang="en-US" sz="1050" dirty="0"/>
          </a:p>
        </p:txBody>
      </p:sp>
      <p:sp>
        <p:nvSpPr>
          <p:cNvPr id="71" name="Shape 33">
            <a:extLst>
              <a:ext uri="{FF2B5EF4-FFF2-40B4-BE49-F238E27FC236}">
                <a16:creationId xmlns:a16="http://schemas.microsoft.com/office/drawing/2014/main" id="{D74976E7-99E7-88BD-2BD7-7806480465E1}"/>
              </a:ext>
            </a:extLst>
          </p:cNvPr>
          <p:cNvSpPr/>
          <p:nvPr/>
        </p:nvSpPr>
        <p:spPr>
          <a:xfrm>
            <a:off x="6263640" y="4233672"/>
            <a:ext cx="5440680" cy="502920"/>
          </a:xfrm>
          <a:prstGeom prst="roundRect">
            <a:avLst>
              <a:gd name="adj" fmla="val 10909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B2571E3E-890A-199C-5AEF-A852A4750AB1}"/>
              </a:ext>
            </a:extLst>
          </p:cNvPr>
          <p:cNvSpPr/>
          <p:nvPr/>
        </p:nvSpPr>
        <p:spPr>
          <a:xfrm>
            <a:off x="6446520" y="423367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 Resource cannot be destroyed.</a:t>
            </a:r>
            <a:endParaRPr lang="en-US" sz="1250" dirty="0"/>
          </a:p>
        </p:txBody>
      </p:sp>
      <p:sp>
        <p:nvSpPr>
          <p:cNvPr id="75" name="Text 35">
            <a:extLst>
              <a:ext uri="{FF2B5EF4-FFF2-40B4-BE49-F238E27FC236}">
                <a16:creationId xmlns:a16="http://schemas.microsoft.com/office/drawing/2014/main" id="{7EA000CA-240E-6C01-F2D3-10BDFEA781AD}"/>
              </a:ext>
            </a:extLst>
          </p:cNvPr>
          <p:cNvSpPr/>
          <p:nvPr/>
        </p:nvSpPr>
        <p:spPr>
          <a:xfrm>
            <a:off x="6263640" y="493776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050" dirty="0"/>
          </a:p>
        </p:txBody>
      </p:sp>
      <p:sp>
        <p:nvSpPr>
          <p:cNvPr id="77" name="Shape 36">
            <a:extLst>
              <a:ext uri="{FF2B5EF4-FFF2-40B4-BE49-F238E27FC236}">
                <a16:creationId xmlns:a16="http://schemas.microsoft.com/office/drawing/2014/main" id="{A0222CB2-8CAD-D2A6-C241-2B0FE83517D3}"/>
              </a:ext>
            </a:extLst>
          </p:cNvPr>
          <p:cNvSpPr/>
          <p:nvPr/>
        </p:nvSpPr>
        <p:spPr>
          <a:xfrm>
            <a:off x="6263640" y="5248656"/>
            <a:ext cx="365760" cy="365760"/>
          </a:xfrm>
          <a:prstGeom prst="ellipse">
            <a:avLst/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37">
            <a:extLst>
              <a:ext uri="{FF2B5EF4-FFF2-40B4-BE49-F238E27FC236}">
                <a16:creationId xmlns:a16="http://schemas.microsoft.com/office/drawing/2014/main" id="{BE1D1A0F-6E32-B629-9D45-60788B959105}"/>
              </a:ext>
            </a:extLst>
          </p:cNvPr>
          <p:cNvSpPr/>
          <p:nvPr/>
        </p:nvSpPr>
        <p:spPr>
          <a:xfrm>
            <a:off x="6263640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9C209B76-017A-E9F8-88B5-27B383B29635}"/>
              </a:ext>
            </a:extLst>
          </p:cNvPr>
          <p:cNvSpPr/>
          <p:nvPr/>
        </p:nvSpPr>
        <p:spPr>
          <a:xfrm>
            <a:off x="6766560" y="523036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RDS</a:t>
            </a:r>
            <a:endParaRPr lang="en-US" sz="1300" dirty="0"/>
          </a:p>
        </p:txBody>
      </p:sp>
      <p:sp>
        <p:nvSpPr>
          <p:cNvPr id="83" name="Shape 39">
            <a:extLst>
              <a:ext uri="{FF2B5EF4-FFF2-40B4-BE49-F238E27FC236}">
                <a16:creationId xmlns:a16="http://schemas.microsoft.com/office/drawing/2014/main" id="{B5854C57-3C25-D169-20A4-B77C9A005905}"/>
              </a:ext>
            </a:extLst>
          </p:cNvPr>
          <p:cNvSpPr/>
          <p:nvPr/>
        </p:nvSpPr>
        <p:spPr>
          <a:xfrm>
            <a:off x="6263640" y="5614416"/>
            <a:ext cx="365760" cy="365760"/>
          </a:xfrm>
          <a:prstGeom prst="ellipse">
            <a:avLst/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40">
            <a:extLst>
              <a:ext uri="{FF2B5EF4-FFF2-40B4-BE49-F238E27FC236}">
                <a16:creationId xmlns:a16="http://schemas.microsoft.com/office/drawing/2014/main" id="{94D17DCC-1AD0-184A-E830-4E590F63AA94}"/>
              </a:ext>
            </a:extLst>
          </p:cNvPr>
          <p:cNvSpPr/>
          <p:nvPr/>
        </p:nvSpPr>
        <p:spPr>
          <a:xfrm>
            <a:off x="6263640" y="5614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D5A6B551-642D-E03C-7549-945857FB32A3}"/>
              </a:ext>
            </a:extLst>
          </p:cNvPr>
          <p:cNvSpPr/>
          <p:nvPr/>
        </p:nvSpPr>
        <p:spPr>
          <a:xfrm>
            <a:off x="6766560" y="55961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buckets containing business data</a:t>
            </a:r>
            <a:endParaRPr lang="en-US" sz="1300" dirty="0"/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F2430BAD-933E-95C0-FCAF-A067F80193FA}"/>
              </a:ext>
            </a:extLst>
          </p:cNvPr>
          <p:cNvSpPr/>
          <p:nvPr/>
        </p:nvSpPr>
        <p:spPr>
          <a:xfrm>
            <a:off x="6263640" y="5980176"/>
            <a:ext cx="365760" cy="365760"/>
          </a:xfrm>
          <a:prstGeom prst="ellipse">
            <a:avLst/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43">
            <a:extLst>
              <a:ext uri="{FF2B5EF4-FFF2-40B4-BE49-F238E27FC236}">
                <a16:creationId xmlns:a16="http://schemas.microsoft.com/office/drawing/2014/main" id="{58823115-E9EA-39DF-5140-543FCCD7FA3F}"/>
              </a:ext>
            </a:extLst>
          </p:cNvPr>
          <p:cNvSpPr/>
          <p:nvPr/>
        </p:nvSpPr>
        <p:spPr>
          <a:xfrm>
            <a:off x="6263640" y="5980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D90F370D-5795-7C38-9C1F-450DA42DE9BF}"/>
              </a:ext>
            </a:extLst>
          </p:cNvPr>
          <p:cNvSpPr/>
          <p:nvPr/>
        </p:nvSpPr>
        <p:spPr>
          <a:xfrm>
            <a:off x="6766560" y="596188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Keys</a:t>
            </a:r>
            <a:endParaRPr lang="en-US" sz="1300" dirty="0"/>
          </a:p>
        </p:txBody>
      </p:sp>
      <p:sp>
        <p:nvSpPr>
          <p:cNvPr id="95" name="Shape 45">
            <a:extLst>
              <a:ext uri="{FF2B5EF4-FFF2-40B4-BE49-F238E27FC236}">
                <a16:creationId xmlns:a16="http://schemas.microsoft.com/office/drawing/2014/main" id="{C924C4D6-CBF0-5442-4C99-7562599C62B2}"/>
              </a:ext>
            </a:extLst>
          </p:cNvPr>
          <p:cNvSpPr/>
          <p:nvPr/>
        </p:nvSpPr>
        <p:spPr>
          <a:xfrm>
            <a:off x="6263640" y="6345936"/>
            <a:ext cx="365760" cy="365760"/>
          </a:xfrm>
          <a:prstGeom prst="ellipse">
            <a:avLst/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46">
            <a:extLst>
              <a:ext uri="{FF2B5EF4-FFF2-40B4-BE49-F238E27FC236}">
                <a16:creationId xmlns:a16="http://schemas.microsoft.com/office/drawing/2014/main" id="{A87DE641-603F-0D8C-7372-B19D8006915F}"/>
              </a:ext>
            </a:extLst>
          </p:cNvPr>
          <p:cNvSpPr/>
          <p:nvPr/>
        </p:nvSpPr>
        <p:spPr>
          <a:xfrm>
            <a:off x="6263640" y="6345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00" dirty="0"/>
          </a:p>
        </p:txBody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567B125E-0880-A0CD-2B72-1BD9C99884B5}"/>
              </a:ext>
            </a:extLst>
          </p:cNvPr>
          <p:cNvSpPr/>
          <p:nvPr/>
        </p:nvSpPr>
        <p:spPr>
          <a:xfrm>
            <a:off x="6766560" y="632764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VPCs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00924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A71FC4D4-C8DD-0022-1313-6297615EA403}"/>
              </a:ext>
            </a:extLst>
          </p:cNvPr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01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ignore_changes &amp; replace_triggered_by</a:t>
            </a:r>
            <a:endParaRPr lang="en-US" sz="27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7298E9BB-517B-763D-6D17-3BFF87E13EC1}"/>
              </a:ext>
            </a:extLst>
          </p:cNvPr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2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ignore_changes</a:t>
            </a:r>
            <a:endParaRPr lang="en-US" sz="1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F66D6D2-805B-5CD8-82FE-D9B2671A2CA9}"/>
              </a:ext>
            </a:extLst>
          </p:cNvPr>
          <p:cNvSpPr/>
          <p:nvPr/>
        </p:nvSpPr>
        <p:spPr>
          <a:xfrm>
            <a:off x="457200" y="14630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TERRAFORM MANAGES</a:t>
            </a:r>
            <a:endParaRPr lang="en-US" sz="105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1DAA11B1-80CA-22B8-DF78-4901C5C8DDA2}"/>
              </a:ext>
            </a:extLst>
          </p:cNvPr>
          <p:cNvSpPr/>
          <p:nvPr/>
        </p:nvSpPr>
        <p:spPr>
          <a:xfrm>
            <a:off x="457200" y="1755648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BDF7847-0EDA-8D16-29BD-F2A9564DD525}"/>
              </a:ext>
            </a:extLst>
          </p:cNvPr>
          <p:cNvSpPr/>
          <p:nvPr/>
        </p:nvSpPr>
        <p:spPr>
          <a:xfrm>
            <a:off x="457200" y="175564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01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= DevOps</a:t>
            </a:r>
            <a:endParaRPr lang="en-US" sz="11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17901CC-A64E-7A9C-A895-7F49E03BAA51}"/>
              </a:ext>
            </a:extLst>
          </p:cNvPr>
          <p:cNvSpPr/>
          <p:nvPr/>
        </p:nvSpPr>
        <p:spPr>
          <a:xfrm>
            <a:off x="457200" y="221284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 Cloud Administrator changes it to</a:t>
            </a:r>
            <a:endParaRPr lang="en-US" sz="12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D529FC6A-5CF0-6075-1FBA-0A5E913326AF}"/>
              </a:ext>
            </a:extLst>
          </p:cNvPr>
          <p:cNvSpPr/>
          <p:nvPr/>
        </p:nvSpPr>
        <p:spPr>
          <a:xfrm>
            <a:off x="457200" y="2560320"/>
            <a:ext cx="2560320" cy="329184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EE37BCF-987B-FAA2-E5F3-F5B9237D5955}"/>
              </a:ext>
            </a:extLst>
          </p:cNvPr>
          <p:cNvSpPr/>
          <p:nvPr/>
        </p:nvSpPr>
        <p:spPr>
          <a:xfrm>
            <a:off x="457200" y="25603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= Cloud Team</a:t>
            </a:r>
            <a:endParaRPr lang="en-US" sz="115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89056F6B-050A-80E3-78AC-AEFBC13BF7D9}"/>
              </a:ext>
            </a:extLst>
          </p:cNvPr>
          <p:cNvSpPr/>
          <p:nvPr/>
        </p:nvSpPr>
        <p:spPr>
          <a:xfrm>
            <a:off x="457200" y="3127248"/>
            <a:ext cx="5394960" cy="548640"/>
          </a:xfrm>
          <a:prstGeom prst="roundRect">
            <a:avLst>
              <a:gd name="adj" fmla="val 10000"/>
            </a:avLst>
          </a:prstGeom>
          <a:solidFill>
            <a:srgbClr val="FCEAE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54359F1-D695-D45D-6A78-1C4A72C5FA5D}"/>
              </a:ext>
            </a:extLst>
          </p:cNvPr>
          <p:cNvSpPr/>
          <p:nvPr/>
        </p:nvSpPr>
        <p:spPr>
          <a:xfrm>
            <a:off x="640080" y="312724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Normally, Terraform tries to change it back.</a:t>
            </a:r>
            <a:endParaRPr lang="en-US" sz="125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E20B3A1A-4C1F-9E22-7C71-49CB9A74C45D}"/>
              </a:ext>
            </a:extLst>
          </p:cNvPr>
          <p:cNvSpPr/>
          <p:nvPr/>
        </p:nvSpPr>
        <p:spPr>
          <a:xfrm>
            <a:off x="457200" y="39776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39D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05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71B8D5FD-F86F-427B-6257-745E6AE4B862}"/>
              </a:ext>
            </a:extLst>
          </p:cNvPr>
          <p:cNvSpPr/>
          <p:nvPr/>
        </p:nvSpPr>
        <p:spPr>
          <a:xfrm>
            <a:off x="457200" y="4279392"/>
            <a:ext cx="5394960" cy="1554480"/>
          </a:xfrm>
          <a:prstGeom prst="roundRect">
            <a:avLst>
              <a:gd name="adj" fmla="val 3529"/>
            </a:avLst>
          </a:prstGeom>
          <a:solidFill>
            <a:srgbClr val="2A18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38F185C5-4A6F-714E-ADC9-5929AF1F844D}"/>
              </a:ext>
            </a:extLst>
          </p:cNvPr>
          <p:cNvSpPr/>
          <p:nvPr/>
        </p:nvSpPr>
        <p:spPr>
          <a:xfrm>
            <a:off x="658368" y="4407408"/>
            <a:ext cx="499262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lifecycle {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ignore_changes = [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tags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C0B7589E-3153-3D3A-1471-F898B2662FF3}"/>
              </a:ext>
            </a:extLst>
          </p:cNvPr>
          <p:cNvSpPr/>
          <p:nvPr/>
        </p:nvSpPr>
        <p:spPr>
          <a:xfrm>
            <a:off x="457200" y="5989320"/>
            <a:ext cx="5394960" cy="502920"/>
          </a:xfrm>
          <a:prstGeom prst="roundRect">
            <a:avLst>
              <a:gd name="adj" fmla="val 10909"/>
            </a:avLst>
          </a:prstGeom>
          <a:solidFill>
            <a:srgbClr val="E7F7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9C20F573-C347-4D0F-82A6-186EE306CEA4}"/>
              </a:ext>
            </a:extLst>
          </p:cNvPr>
          <p:cNvSpPr/>
          <p:nvPr/>
        </p:nvSpPr>
        <p:spPr>
          <a:xfrm>
            <a:off x="640080" y="5989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Terraform ignores those external changes.</a:t>
            </a:r>
            <a:endParaRPr lang="en-US" sz="125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65DC8754-87E0-5F04-9F52-FF224C3BF9AE}"/>
              </a:ext>
            </a:extLst>
          </p:cNvPr>
          <p:cNvSpPr/>
          <p:nvPr/>
        </p:nvSpPr>
        <p:spPr>
          <a:xfrm>
            <a:off x="6172200" y="1463040"/>
            <a:ext cx="5532120" cy="5148072"/>
          </a:xfrm>
          <a:prstGeom prst="roundRect">
            <a:avLst>
              <a:gd name="adj" fmla="val 1421"/>
            </a:avLst>
          </a:prstGeom>
          <a:solidFill>
            <a:srgbClr val="F7F5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2A9ABE3-5B00-FEEF-2737-14FF89C11FC1}"/>
              </a:ext>
            </a:extLst>
          </p:cNvPr>
          <p:cNvSpPr/>
          <p:nvPr/>
        </p:nvSpPr>
        <p:spPr>
          <a:xfrm>
            <a:off x="6537960" y="178308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 CASES</a:t>
            </a:r>
            <a:endParaRPr lang="en-US" sz="105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7285164F-DE8A-BAB5-9FBD-59B37F5A99AD}"/>
              </a:ext>
            </a:extLst>
          </p:cNvPr>
          <p:cNvSpPr/>
          <p:nvPr/>
        </p:nvSpPr>
        <p:spPr>
          <a:xfrm>
            <a:off x="6537960" y="2286000"/>
            <a:ext cx="457200" cy="457200"/>
          </a:xfrm>
          <a:prstGeom prst="ellipse">
            <a:avLst/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D39A315C-946A-94DF-A640-C0C3EBA46D3E}"/>
              </a:ext>
            </a:extLst>
          </p:cNvPr>
          <p:cNvSpPr/>
          <p:nvPr/>
        </p:nvSpPr>
        <p:spPr>
          <a:xfrm>
            <a:off x="6537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39CDEB14-8AE3-E329-6F02-9831C5259449}"/>
              </a:ext>
            </a:extLst>
          </p:cNvPr>
          <p:cNvSpPr/>
          <p:nvPr/>
        </p:nvSpPr>
        <p:spPr>
          <a:xfrm>
            <a:off x="7132320" y="2258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managed by AWS Organizations</a:t>
            </a:r>
            <a:endParaRPr lang="en-US" sz="140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6C1FF0AE-DD76-36AF-0594-867CFE9F6ABB}"/>
              </a:ext>
            </a:extLst>
          </p:cNvPr>
          <p:cNvSpPr/>
          <p:nvPr/>
        </p:nvSpPr>
        <p:spPr>
          <a:xfrm>
            <a:off x="7132320" y="25786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enforced tags shouldn't be reverted by Terraform</a:t>
            </a:r>
            <a:endParaRPr lang="en-US" sz="1150" dirty="0"/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9FCCEF53-B67F-7496-BA68-AADCE16C273E}"/>
              </a:ext>
            </a:extLst>
          </p:cNvPr>
          <p:cNvSpPr/>
          <p:nvPr/>
        </p:nvSpPr>
        <p:spPr>
          <a:xfrm>
            <a:off x="6537960" y="3337560"/>
            <a:ext cx="457200" cy="457200"/>
          </a:xfrm>
          <a:prstGeom prst="ellipse">
            <a:avLst/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B8FEA4FA-F95A-2CE0-B795-20DBC0E8DF65}"/>
              </a:ext>
            </a:extLst>
          </p:cNvPr>
          <p:cNvSpPr/>
          <p:nvPr/>
        </p:nvSpPr>
        <p:spPr>
          <a:xfrm>
            <a:off x="6537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5736CCCB-5D03-F95F-32F9-F29FFBB0C6FB}"/>
              </a:ext>
            </a:extLst>
          </p:cNvPr>
          <p:cNvSpPr/>
          <p:nvPr/>
        </p:nvSpPr>
        <p:spPr>
          <a:xfrm>
            <a:off x="7132320" y="3310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Policy</a:t>
            </a:r>
            <a:endParaRPr lang="en-US" sz="1400" dirty="0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4F0F0E10-8DE3-9C13-F1A3-EE7026CAF0A8}"/>
              </a:ext>
            </a:extLst>
          </p:cNvPr>
          <p:cNvSpPr/>
          <p:nvPr/>
        </p:nvSpPr>
        <p:spPr>
          <a:xfrm>
            <a:off x="7132320" y="363016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Policy-assigned properties get overwritten outside of state</a:t>
            </a:r>
            <a:endParaRPr lang="en-US" sz="1150" dirty="0"/>
          </a:p>
        </p:txBody>
      </p:sp>
      <p:sp>
        <p:nvSpPr>
          <p:cNvPr id="55" name="Shape 25">
            <a:extLst>
              <a:ext uri="{FF2B5EF4-FFF2-40B4-BE49-F238E27FC236}">
                <a16:creationId xmlns:a16="http://schemas.microsoft.com/office/drawing/2014/main" id="{F229E0E2-A5F9-4D4B-27C2-85D15270EA8E}"/>
              </a:ext>
            </a:extLst>
          </p:cNvPr>
          <p:cNvSpPr/>
          <p:nvPr/>
        </p:nvSpPr>
        <p:spPr>
          <a:xfrm>
            <a:off x="6537960" y="4389120"/>
            <a:ext cx="457200" cy="457200"/>
          </a:xfrm>
          <a:prstGeom prst="ellipse">
            <a:avLst/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D87FAE97-CB83-CC98-7973-BFF8445EA42D}"/>
              </a:ext>
            </a:extLst>
          </p:cNvPr>
          <p:cNvSpPr/>
          <p:nvPr/>
        </p:nvSpPr>
        <p:spPr>
          <a:xfrm>
            <a:off x="65379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732B849C-6866-ADB5-09B7-A873C3938617}"/>
              </a:ext>
            </a:extLst>
          </p:cNvPr>
          <p:cNvSpPr/>
          <p:nvPr/>
        </p:nvSpPr>
        <p:spPr>
          <a:xfrm>
            <a:off x="7132320" y="43616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Custodian</a:t>
            </a:r>
            <a:endParaRPr lang="en-US" sz="1400" dirty="0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E2A0810A-3800-F3B4-1174-72CC145CAAA5}"/>
              </a:ext>
            </a:extLst>
          </p:cNvPr>
          <p:cNvSpPr/>
          <p:nvPr/>
        </p:nvSpPr>
        <p:spPr>
          <a:xfrm>
            <a:off x="7132320" y="46817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governance tools adjust resources post-deploy</a:t>
            </a:r>
            <a:endParaRPr lang="en-US" sz="1150" dirty="0"/>
          </a:p>
        </p:txBody>
      </p:sp>
      <p:sp>
        <p:nvSpPr>
          <p:cNvPr id="63" name="Shape 29">
            <a:extLst>
              <a:ext uri="{FF2B5EF4-FFF2-40B4-BE49-F238E27FC236}">
                <a16:creationId xmlns:a16="http://schemas.microsoft.com/office/drawing/2014/main" id="{06A758B1-C672-C662-6EE6-E0DCAE9D8C92}"/>
              </a:ext>
            </a:extLst>
          </p:cNvPr>
          <p:cNvSpPr/>
          <p:nvPr/>
        </p:nvSpPr>
        <p:spPr>
          <a:xfrm>
            <a:off x="6537960" y="5440680"/>
            <a:ext cx="457200" cy="457200"/>
          </a:xfrm>
          <a:prstGeom prst="ellipse">
            <a:avLst/>
          </a:prstGeom>
          <a:solidFill>
            <a:srgbClr val="E4DB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30">
            <a:extLst>
              <a:ext uri="{FF2B5EF4-FFF2-40B4-BE49-F238E27FC236}">
                <a16:creationId xmlns:a16="http://schemas.microsoft.com/office/drawing/2014/main" id="{FB4074B0-226E-D07C-66D7-2C3F3978DCCE}"/>
              </a:ext>
            </a:extLst>
          </p:cNvPr>
          <p:cNvSpPr/>
          <p:nvPr/>
        </p:nvSpPr>
        <p:spPr>
          <a:xfrm>
            <a:off x="653796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2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300" dirty="0"/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5C68FEF1-643B-BA7D-F66C-78DD1ECC1203}"/>
              </a:ext>
            </a:extLst>
          </p:cNvPr>
          <p:cNvSpPr/>
          <p:nvPr/>
        </p:nvSpPr>
        <p:spPr>
          <a:xfrm>
            <a:off x="7132320" y="54132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1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metadata</a:t>
            </a:r>
            <a:endParaRPr lang="en-US" sz="1400" dirty="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CC82ACA0-A584-F302-5C40-44BFAC51D135}"/>
              </a:ext>
            </a:extLst>
          </p:cNvPr>
          <p:cNvSpPr/>
          <p:nvPr/>
        </p:nvSpPr>
        <p:spPr>
          <a:xfrm>
            <a:off x="7132320" y="57332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stamped on by the cloud provider at runtime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821106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1262</Words>
  <Application>Microsoft Office PowerPoint</Application>
  <PresentationFormat>Widescreen</PresentationFormat>
  <Paragraphs>286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Abhoy Kumar Mondal</dc:creator>
  <cp:lastModifiedBy>Abhoy Kumar Mondal</cp:lastModifiedBy>
  <cp:revision>4</cp:revision>
  <dcterms:created xsi:type="dcterms:W3CDTF">2026-07-17T14:22:32Z</dcterms:created>
  <dcterms:modified xsi:type="dcterms:W3CDTF">2026-07-20T14:01:52Z</dcterms:modified>
</cp:coreProperties>
</file>